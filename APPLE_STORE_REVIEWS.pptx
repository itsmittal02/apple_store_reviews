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4"/>
  </p:notesMasterIdLst>
  <p:sldIdLst>
    <p:sldId id="256" r:id="rId2"/>
    <p:sldId id="257" r:id="rId3"/>
    <p:sldId id="258" r:id="rId4"/>
    <p:sldId id="259" r:id="rId5"/>
    <p:sldId id="275" r:id="rId6"/>
    <p:sldId id="276" r:id="rId7"/>
    <p:sldId id="277" r:id="rId8"/>
    <p:sldId id="278" r:id="rId9"/>
    <p:sldId id="280" r:id="rId10"/>
    <p:sldId id="279" r:id="rId11"/>
    <p:sldId id="281" r:id="rId12"/>
    <p:sldId id="274" r:id="rId13"/>
  </p:sldIdLst>
  <p:sldSz cx="12192000" cy="6858000"/>
  <p:notesSz cx="6858000" cy="9144000"/>
  <p:embeddedFontLst>
    <p:embeddedFont>
      <p:font typeface="Calibri" pitchFamily="34" charset="0"/>
      <p:regular r:id="rId15"/>
      <p:bold r:id="rId16"/>
      <p:italic r:id="rId17"/>
      <p:boldItalic r:id="rId18"/>
    </p:embeddedFont>
    <p:embeddedFont>
      <p:font typeface="Georgia" pitchFamily="18" charset="0"/>
      <p:regular r:id="rId19"/>
      <p:bold r:id="rId20"/>
      <p:italic r:id="rId21"/>
      <p:boldItalic r:id="rId22"/>
    </p:embeddedFont>
    <p:embeddedFont>
      <p:font typeface="Geo"/>
      <p:regular r:id="rId23"/>
      <p: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517" autoAdjust="0"/>
    <p:restoredTop sz="94660"/>
  </p:normalViewPr>
  <p:slideViewPr>
    <p:cSldViewPr>
      <p:cViewPr>
        <p:scale>
          <a:sx n="75" d="100"/>
          <a:sy n="75" d="100"/>
        </p:scale>
        <p:origin x="-950" y="-235"/>
      </p:cViewPr>
      <p:guideLst>
        <p:guide orient="horz" pos="2160"/>
        <p:guide pos="384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7b97d2b045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7b97d2b045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7b97d2b045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7b97d2b045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7b97d2b045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7b97d2b045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7b97d2b045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7b97d2b045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7b97d2b045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7b97d2b045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7b97d2b045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7b97d2b045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7b97d2b045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7b97d2b045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7b97d2b045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7b97d2b045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4" name="Google Shape;334;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5183188" y="987425"/>
            <a:ext cx="6172200" cy="4873625"/>
          </a:xfrm>
          <a:prstGeom prst="rect">
            <a:avLst/>
          </a:prstGeom>
          <a:noFill/>
          <a:ln>
            <a:noFill/>
          </a:ln>
        </p:spPr>
      </p:sp>
      <p:sp>
        <p:nvSpPr>
          <p:cNvPr id="64" name="Google Shape;64;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itsmittal02/Apple_Store_Reviews"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hyperlink" Target="https://www.linkedin.com/in/sharad-mittal-0376b61b5/" TargetMode="Externa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3"/>
          <p:cNvSpPr/>
          <p:nvPr/>
        </p:nvSpPr>
        <p:spPr>
          <a:xfrm>
            <a:off x="0" y="0"/>
            <a:ext cx="12192000" cy="4322657"/>
          </a:xfrm>
          <a:custGeom>
            <a:avLst/>
            <a:gdLst/>
            <a:ahLst/>
            <a:cxnLst/>
            <a:rect l="l" t="t" r="r" b="b"/>
            <a:pathLst>
              <a:path w="11735102" h="4322655" extrusionOk="0">
                <a:moveTo>
                  <a:pt x="1968" y="0"/>
                </a:moveTo>
                <a:lnTo>
                  <a:pt x="11735102" y="0"/>
                </a:lnTo>
                <a:lnTo>
                  <a:pt x="11735102" y="461989"/>
                </a:lnTo>
                <a:lnTo>
                  <a:pt x="11317341" y="593825"/>
                </a:lnTo>
                <a:cubicBezTo>
                  <a:pt x="9683582" y="1142229"/>
                  <a:pt x="8327570" y="1964067"/>
                  <a:pt x="7249305" y="3059340"/>
                </a:cubicBezTo>
                <a:cubicBezTo>
                  <a:pt x="5609218" y="4725295"/>
                  <a:pt x="2929141" y="4746266"/>
                  <a:pt x="1263185" y="3106180"/>
                </a:cubicBezTo>
                <a:cubicBezTo>
                  <a:pt x="430208" y="2286137"/>
                  <a:pt x="8476" y="1206096"/>
                  <a:pt x="0" y="122821"/>
                </a:cubicBezTo>
                <a:lnTo>
                  <a:pt x="1968" y="0"/>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5" name="Google Shape;85;p13"/>
          <p:cNvSpPr/>
          <p:nvPr/>
        </p:nvSpPr>
        <p:spPr>
          <a:xfrm rot="-5400000">
            <a:off x="11100412" y="5766412"/>
            <a:ext cx="1086593" cy="1096583"/>
          </a:xfrm>
          <a:custGeom>
            <a:avLst/>
            <a:gdLst/>
            <a:ahLst/>
            <a:cxnLst/>
            <a:rect l="l" t="t" r="r" b="b"/>
            <a:pathLst>
              <a:path w="1086593" h="1096583" extrusionOk="0">
                <a:moveTo>
                  <a:pt x="1086593" y="670956"/>
                </a:moveTo>
                <a:cubicBezTo>
                  <a:pt x="1086593" y="809916"/>
                  <a:pt x="1044350" y="939009"/>
                  <a:pt x="972004" y="1046094"/>
                </a:cubicBezTo>
                <a:lnTo>
                  <a:pt x="930348" y="1096583"/>
                </a:lnTo>
                <a:lnTo>
                  <a:pt x="0" y="1096583"/>
                </a:lnTo>
                <a:lnTo>
                  <a:pt x="0" y="148003"/>
                </a:lnTo>
                <a:lnTo>
                  <a:pt x="40499" y="114589"/>
                </a:lnTo>
                <a:cubicBezTo>
                  <a:pt x="147585" y="42243"/>
                  <a:pt x="276678" y="0"/>
                  <a:pt x="415637" y="0"/>
                </a:cubicBezTo>
                <a:cubicBezTo>
                  <a:pt x="786196" y="0"/>
                  <a:pt x="1086593" y="300397"/>
                  <a:pt x="1086593" y="670956"/>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6" name="Google Shape;86;p13"/>
          <p:cNvSpPr/>
          <p:nvPr/>
        </p:nvSpPr>
        <p:spPr>
          <a:xfrm>
            <a:off x="6692696" y="497401"/>
            <a:ext cx="5341200" cy="2154000"/>
          </a:xfrm>
          <a:prstGeom prst="roundRect">
            <a:avLst>
              <a:gd name="adj" fmla="val 16667"/>
            </a:avLst>
          </a:prstGeom>
          <a:solidFill>
            <a:srgbClr val="A3A2DA"/>
          </a:solidFill>
          <a:ln w="12700" cap="flat" cmpd="sng">
            <a:solidFill>
              <a:srgbClr val="00843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b="1" i="1" dirty="0" smtClean="0">
                <a:solidFill>
                  <a:srgbClr val="A2020D"/>
                </a:solidFill>
                <a:latin typeface="Calibri"/>
                <a:ea typeface="Calibri"/>
                <a:cs typeface="Calibri"/>
                <a:sym typeface="Calibri"/>
              </a:rPr>
              <a:t>“Built For Apple Intelligence”</a:t>
            </a:r>
            <a:endParaRPr sz="3600" b="1" i="1" u="none" strike="noStrike" cap="none">
              <a:solidFill>
                <a:srgbClr val="A2020D"/>
              </a:solidFill>
              <a:latin typeface="Georgia"/>
              <a:ea typeface="Georgia"/>
              <a:cs typeface="Georgia"/>
              <a:sym typeface="Georgia"/>
            </a:endParaRPr>
          </a:p>
        </p:txBody>
      </p:sp>
      <p:sp>
        <p:nvSpPr>
          <p:cNvPr id="88" name="Google Shape;88;p13"/>
          <p:cNvSpPr/>
          <p:nvPr/>
        </p:nvSpPr>
        <p:spPr>
          <a:xfrm>
            <a:off x="1143000" y="2974250"/>
            <a:ext cx="8603100" cy="30726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lgn="just"/>
            <a:r>
              <a:rPr lang="en-US" sz="2800" b="1" dirty="0">
                <a:solidFill>
                  <a:schemeClr val="dk1"/>
                </a:solidFill>
                <a:latin typeface="Calibri"/>
                <a:ea typeface="Calibri"/>
                <a:cs typeface="Calibri"/>
                <a:sym typeface="Calibri"/>
              </a:rPr>
              <a:t> </a:t>
            </a:r>
            <a:r>
              <a:rPr lang="en-US" sz="2800" b="1" dirty="0" smtClean="0">
                <a:solidFill>
                  <a:schemeClr val="dk1"/>
                </a:solidFill>
                <a:latin typeface="Calibri"/>
                <a:ea typeface="Calibri"/>
                <a:cs typeface="Calibri"/>
                <a:sym typeface="Calibri"/>
              </a:rPr>
              <a:t>     </a:t>
            </a:r>
            <a:r>
              <a:rPr lang="en-US" sz="2800" b="1" dirty="0" smtClean="0"/>
              <a:t>Apple </a:t>
            </a:r>
            <a:r>
              <a:rPr lang="en-US" sz="2800" b="1" dirty="0" smtClean="0"/>
              <a:t>Store </a:t>
            </a:r>
            <a:r>
              <a:rPr lang="en-US" sz="2800" b="1" dirty="0" smtClean="0"/>
              <a:t>Reviews Statistical</a:t>
            </a:r>
            <a:r>
              <a:rPr lang="en-US" sz="2800" b="1" dirty="0" smtClean="0">
                <a:solidFill>
                  <a:schemeClr val="dk1"/>
                </a:solidFill>
                <a:latin typeface="Calibri"/>
                <a:ea typeface="Calibri"/>
                <a:cs typeface="Calibri"/>
                <a:sym typeface="Calibri"/>
              </a:rPr>
              <a:t> </a:t>
            </a:r>
            <a:r>
              <a:rPr lang="en-US" sz="2800" b="1" dirty="0">
                <a:solidFill>
                  <a:schemeClr val="dk1"/>
                </a:solidFill>
                <a:latin typeface="+mn-lt"/>
                <a:ea typeface="Calibri"/>
                <a:cs typeface="Calibri"/>
                <a:sym typeface="Calibri"/>
              </a:rPr>
              <a:t>Analysis</a:t>
            </a:r>
            <a:r>
              <a:rPr lang="en-US" sz="2800" b="1" dirty="0">
                <a:solidFill>
                  <a:schemeClr val="dk1"/>
                </a:solidFill>
                <a:latin typeface="Calibri"/>
                <a:ea typeface="Calibri"/>
                <a:cs typeface="Calibri"/>
                <a:sym typeface="Calibri"/>
              </a:rPr>
              <a:t> </a:t>
            </a:r>
            <a:r>
              <a:rPr lang="en-US" sz="2700" b="1" dirty="0" smtClean="0">
                <a:solidFill>
                  <a:schemeClr val="dk1"/>
                </a:solidFill>
                <a:latin typeface="Calibri"/>
                <a:ea typeface="Calibri"/>
                <a:cs typeface="Calibri"/>
                <a:sym typeface="Calibri"/>
              </a:rPr>
              <a:t> </a:t>
            </a:r>
            <a:endParaRPr sz="2700" b="1">
              <a:solidFill>
                <a:schemeClr val="dk1"/>
              </a:solidFill>
              <a:latin typeface="Calibri"/>
              <a:ea typeface="Calibri"/>
              <a:cs typeface="Calibri"/>
              <a:sym typeface="Calibri"/>
            </a:endParaRPr>
          </a:p>
        </p:txBody>
      </p:sp>
      <p:sp>
        <p:nvSpPr>
          <p:cNvPr id="89" name="Google Shape;89;p13"/>
          <p:cNvSpPr/>
          <p:nvPr/>
        </p:nvSpPr>
        <p:spPr>
          <a:xfrm>
            <a:off x="2593275" y="5026750"/>
            <a:ext cx="5063700" cy="8430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400" b="1">
                <a:solidFill>
                  <a:srgbClr val="D37424"/>
                </a:solidFill>
                <a:latin typeface="Calibri"/>
                <a:ea typeface="Calibri"/>
                <a:cs typeface="Calibri"/>
                <a:sym typeface="Calibri"/>
              </a:rPr>
              <a:t>Presented By:- SHARAD MITTAL</a:t>
            </a:r>
            <a:endParaRPr sz="2400" b="1">
              <a:solidFill>
                <a:srgbClr val="D37424"/>
              </a:solidFill>
              <a:latin typeface="Calibri"/>
              <a:ea typeface="Calibri"/>
              <a:cs typeface="Calibri"/>
              <a:sym typeface="Calibri"/>
            </a:endParaRPr>
          </a:p>
        </p:txBody>
      </p:sp>
      <p:sp>
        <p:nvSpPr>
          <p:cNvPr id="38916" name="AutoShape 4" descr="Image result for Apple Icon No Background"/>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8918" name="AutoShape 6" descr="Image result for Apple Icon No Background"/>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38920" name="Picture 8" descr="Free Apple Logo Transparent Background, Download Free Apple Logo ..."/>
          <p:cNvPicPr>
            <a:picLocks noChangeAspect="1" noChangeArrowheads="1"/>
          </p:cNvPicPr>
          <p:nvPr/>
        </p:nvPicPr>
        <p:blipFill>
          <a:blip r:embed="rId3"/>
          <a:srcRect/>
          <a:stretch>
            <a:fillRect/>
          </a:stretch>
        </p:blipFill>
        <p:spPr bwMode="auto">
          <a:xfrm>
            <a:off x="1" y="1"/>
            <a:ext cx="1452529" cy="1452529"/>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4"/>
          <p:cNvSpPr/>
          <p:nvPr/>
        </p:nvSpPr>
        <p:spPr>
          <a:xfrm>
            <a:off x="1" y="0"/>
            <a:ext cx="973777" cy="1163782"/>
          </a:xfrm>
          <a:custGeom>
            <a:avLst/>
            <a:gdLst/>
            <a:ahLst/>
            <a:cxnLst/>
            <a:rect l="l" t="t" r="r" b="b"/>
            <a:pathLst>
              <a:path w="973777" h="1163782" extrusionOk="0">
                <a:moveTo>
                  <a:pt x="0" y="0"/>
                </a:moveTo>
                <a:lnTo>
                  <a:pt x="754972" y="0"/>
                </a:lnTo>
                <a:lnTo>
                  <a:pt x="777259" y="18388"/>
                </a:lnTo>
                <a:cubicBezTo>
                  <a:pt x="898678" y="139808"/>
                  <a:pt x="973777" y="307547"/>
                  <a:pt x="973777" y="492826"/>
                </a:cubicBezTo>
                <a:cubicBezTo>
                  <a:pt x="973777" y="863385"/>
                  <a:pt x="673380" y="1163782"/>
                  <a:pt x="302821" y="1163782"/>
                </a:cubicBezTo>
                <a:cubicBezTo>
                  <a:pt x="210181" y="1163782"/>
                  <a:pt x="121927" y="1145007"/>
                  <a:pt x="41655" y="1111055"/>
                </a:cubicBezTo>
                <a:lnTo>
                  <a:pt x="0" y="1088445"/>
                </a:lnTo>
                <a:lnTo>
                  <a:pt x="0"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5" name="Google Shape;95;p14"/>
          <p:cNvSpPr/>
          <p:nvPr/>
        </p:nvSpPr>
        <p:spPr>
          <a:xfrm rot="-5400000">
            <a:off x="11100412" y="5766412"/>
            <a:ext cx="1086593" cy="1096583"/>
          </a:xfrm>
          <a:custGeom>
            <a:avLst/>
            <a:gdLst/>
            <a:ahLst/>
            <a:cxnLst/>
            <a:rect l="l" t="t" r="r" b="b"/>
            <a:pathLst>
              <a:path w="1086593" h="1096583" extrusionOk="0">
                <a:moveTo>
                  <a:pt x="1086593" y="670956"/>
                </a:moveTo>
                <a:cubicBezTo>
                  <a:pt x="1086593" y="809916"/>
                  <a:pt x="1044350" y="939009"/>
                  <a:pt x="972004" y="1046094"/>
                </a:cubicBezTo>
                <a:lnTo>
                  <a:pt x="930348" y="1096583"/>
                </a:lnTo>
                <a:lnTo>
                  <a:pt x="0" y="1096583"/>
                </a:lnTo>
                <a:lnTo>
                  <a:pt x="0" y="148003"/>
                </a:lnTo>
                <a:lnTo>
                  <a:pt x="40499" y="114589"/>
                </a:lnTo>
                <a:cubicBezTo>
                  <a:pt x="147585" y="42243"/>
                  <a:pt x="276678" y="0"/>
                  <a:pt x="415637" y="0"/>
                </a:cubicBezTo>
                <a:cubicBezTo>
                  <a:pt x="786196" y="0"/>
                  <a:pt x="1086593" y="300397"/>
                  <a:pt x="1086593" y="670956"/>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nvGrpSpPr>
          <p:cNvPr id="96" name="Google Shape;96;p14"/>
          <p:cNvGrpSpPr/>
          <p:nvPr/>
        </p:nvGrpSpPr>
        <p:grpSpPr>
          <a:xfrm>
            <a:off x="4362450" y="307809"/>
            <a:ext cx="7600952" cy="369332"/>
            <a:chOff x="2857500" y="152400"/>
            <a:chExt cx="7600952" cy="369332"/>
          </a:xfrm>
        </p:grpSpPr>
        <p:sp>
          <p:nvSpPr>
            <p:cNvPr id="97" name="Google Shape;97;p14"/>
            <p:cNvSpPr txBox="1"/>
            <p:nvPr/>
          </p:nvSpPr>
          <p:spPr>
            <a:xfrm>
              <a:off x="2857500" y="152400"/>
              <a:ext cx="140970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0" i="0" u="none" strike="noStrike" cap="none">
                  <a:solidFill>
                    <a:schemeClr val="dk1"/>
                  </a:solidFill>
                  <a:latin typeface="Georgia"/>
                  <a:ea typeface="Georgia"/>
                  <a:cs typeface="Georgia"/>
                  <a:sym typeface="Georgia"/>
                </a:rPr>
                <a:t>Blog</a:t>
              </a:r>
              <a:endParaRPr/>
            </a:p>
          </p:txBody>
        </p:sp>
        <p:sp>
          <p:nvSpPr>
            <p:cNvPr id="98" name="Google Shape;98;p14"/>
            <p:cNvSpPr txBox="1"/>
            <p:nvPr/>
          </p:nvSpPr>
          <p:spPr>
            <a:xfrm>
              <a:off x="4405313" y="152400"/>
              <a:ext cx="140970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0" i="0" u="none" strike="noStrike" cap="none">
                  <a:solidFill>
                    <a:schemeClr val="dk1"/>
                  </a:solidFill>
                  <a:latin typeface="Georgia"/>
                  <a:ea typeface="Georgia"/>
                  <a:cs typeface="Georgia"/>
                  <a:sym typeface="Georgia"/>
                </a:rPr>
                <a:t>Products</a:t>
              </a:r>
              <a:endParaRPr/>
            </a:p>
          </p:txBody>
        </p:sp>
        <p:sp>
          <p:nvSpPr>
            <p:cNvPr id="99" name="Google Shape;99;p14"/>
            <p:cNvSpPr txBox="1"/>
            <p:nvPr/>
          </p:nvSpPr>
          <p:spPr>
            <a:xfrm>
              <a:off x="5953126" y="152400"/>
              <a:ext cx="140970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0" i="0" u="none" strike="noStrike" cap="none">
                  <a:solidFill>
                    <a:schemeClr val="dk1"/>
                  </a:solidFill>
                  <a:latin typeface="Georgia"/>
                  <a:ea typeface="Georgia"/>
                  <a:cs typeface="Georgia"/>
                  <a:sym typeface="Georgia"/>
                </a:rPr>
                <a:t>About us</a:t>
              </a:r>
              <a:endParaRPr/>
            </a:p>
          </p:txBody>
        </p:sp>
        <p:sp>
          <p:nvSpPr>
            <p:cNvPr id="100" name="Google Shape;100;p14"/>
            <p:cNvSpPr txBox="1"/>
            <p:nvPr/>
          </p:nvSpPr>
          <p:spPr>
            <a:xfrm>
              <a:off x="7500939" y="152400"/>
              <a:ext cx="140970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0" i="0" u="none" strike="noStrike" cap="none">
                  <a:solidFill>
                    <a:schemeClr val="dk1"/>
                  </a:solidFill>
                  <a:latin typeface="Georgia"/>
                  <a:ea typeface="Georgia"/>
                  <a:cs typeface="Georgia"/>
                  <a:sym typeface="Georgia"/>
                </a:rPr>
                <a:t>contact</a:t>
              </a:r>
              <a:endParaRPr/>
            </a:p>
          </p:txBody>
        </p:sp>
        <p:sp>
          <p:nvSpPr>
            <p:cNvPr id="101" name="Google Shape;101;p14"/>
            <p:cNvSpPr txBox="1"/>
            <p:nvPr/>
          </p:nvSpPr>
          <p:spPr>
            <a:xfrm>
              <a:off x="9048752" y="152400"/>
              <a:ext cx="140970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0" i="0" u="none" strike="noStrike" cap="none">
                  <a:solidFill>
                    <a:schemeClr val="dk1"/>
                  </a:solidFill>
                  <a:latin typeface="Georgia"/>
                  <a:ea typeface="Georgia"/>
                  <a:cs typeface="Georgia"/>
                  <a:sym typeface="Georgia"/>
                </a:rPr>
                <a:t>Login</a:t>
              </a:r>
              <a:endParaRPr/>
            </a:p>
          </p:txBody>
        </p:sp>
      </p:grpSp>
      <p:sp>
        <p:nvSpPr>
          <p:cNvPr id="102" name="Google Shape;102;p14"/>
          <p:cNvSpPr/>
          <p:nvPr/>
        </p:nvSpPr>
        <p:spPr>
          <a:xfrm>
            <a:off x="10582336" y="208116"/>
            <a:ext cx="1385454" cy="551033"/>
          </a:xfrm>
          <a:prstGeom prst="roundRect">
            <a:avLst>
              <a:gd name="adj" fmla="val 16667"/>
            </a:avLst>
          </a:prstGeom>
          <a:noFill/>
          <a:ln w="12700" cap="flat" cmpd="sng">
            <a:solidFill>
              <a:schemeClr val="accent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nvGrpSpPr>
          <p:cNvPr id="103" name="Google Shape;103;p14"/>
          <p:cNvGrpSpPr/>
          <p:nvPr/>
        </p:nvGrpSpPr>
        <p:grpSpPr>
          <a:xfrm>
            <a:off x="1434084" y="2624122"/>
            <a:ext cx="3803863" cy="2590827"/>
            <a:chOff x="609506" y="2209800"/>
            <a:chExt cx="3803863" cy="2355920"/>
          </a:xfrm>
        </p:grpSpPr>
        <p:sp>
          <p:nvSpPr>
            <p:cNvPr id="104" name="Google Shape;104;p14"/>
            <p:cNvSpPr txBox="1"/>
            <p:nvPr/>
          </p:nvSpPr>
          <p:spPr>
            <a:xfrm>
              <a:off x="609506" y="2209800"/>
              <a:ext cx="35433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3200">
                <a:solidFill>
                  <a:schemeClr val="accent6"/>
                </a:solidFill>
                <a:latin typeface="Georgia"/>
                <a:ea typeface="Georgia"/>
                <a:cs typeface="Georgia"/>
                <a:sym typeface="Georgia"/>
              </a:endParaRPr>
            </a:p>
          </p:txBody>
        </p:sp>
        <p:sp>
          <p:nvSpPr>
            <p:cNvPr id="105" name="Google Shape;105;p14"/>
            <p:cNvSpPr txBox="1"/>
            <p:nvPr/>
          </p:nvSpPr>
          <p:spPr>
            <a:xfrm>
              <a:off x="870069" y="2283775"/>
              <a:ext cx="3543300" cy="1292621"/>
            </a:xfrm>
            <a:prstGeom prst="rect">
              <a:avLst/>
            </a:prstGeom>
            <a:noFill/>
            <a:ln>
              <a:noFill/>
            </a:ln>
          </p:spPr>
          <p:txBody>
            <a:bodyPr spcFirstLastPara="1" wrap="square" lIns="91425" tIns="45700" rIns="91425" bIns="45700" anchor="t" anchorCtr="0">
              <a:spAutoFit/>
            </a:bodyPr>
            <a:lstStyle/>
            <a:p>
              <a:pPr lvl="0"/>
              <a:r>
                <a:rPr lang="en-US" sz="4200" b="1" dirty="0">
                  <a:solidFill>
                    <a:schemeClr val="dk1"/>
                  </a:solidFill>
                  <a:latin typeface="Calibri"/>
                  <a:ea typeface="Calibri"/>
                  <a:cs typeface="Calibri"/>
                  <a:sym typeface="Calibri"/>
                </a:rPr>
                <a:t> Project</a:t>
              </a:r>
              <a:r>
                <a:rPr lang="en-US" sz="4200" b="1" dirty="0" smtClean="0">
                  <a:solidFill>
                    <a:schemeClr val="dk1"/>
                  </a:solidFill>
                  <a:latin typeface="Calibri"/>
                  <a:ea typeface="Calibri"/>
                  <a:cs typeface="Calibri"/>
                  <a:sym typeface="Calibri"/>
                </a:rPr>
                <a:t>: </a:t>
              </a:r>
              <a:r>
                <a:rPr lang="en-US" sz="3600" b="1" dirty="0" smtClean="0"/>
                <a:t>Apple Store Reviews</a:t>
              </a:r>
              <a:r>
                <a:rPr lang="en-US" sz="3600" b="1" dirty="0" smtClean="0">
                  <a:solidFill>
                    <a:schemeClr val="dk1"/>
                  </a:solidFill>
                  <a:latin typeface="Calibri"/>
                  <a:ea typeface="Calibri"/>
                  <a:cs typeface="Calibri"/>
                  <a:sym typeface="Calibri"/>
                </a:rPr>
                <a:t> </a:t>
              </a:r>
              <a:endParaRPr sz="3600" b="1">
                <a:solidFill>
                  <a:schemeClr val="dk1"/>
                </a:solidFill>
                <a:latin typeface="Geo"/>
                <a:ea typeface="Geo"/>
                <a:cs typeface="Geo"/>
                <a:sym typeface="Geo"/>
              </a:endParaRPr>
            </a:p>
          </p:txBody>
        </p:sp>
        <p:grpSp>
          <p:nvGrpSpPr>
            <p:cNvPr id="106" name="Google Shape;106;p14"/>
            <p:cNvGrpSpPr/>
            <p:nvPr/>
          </p:nvGrpSpPr>
          <p:grpSpPr>
            <a:xfrm>
              <a:off x="699326" y="3914416"/>
              <a:ext cx="3543395" cy="651304"/>
              <a:chOff x="690150" y="3854794"/>
              <a:chExt cx="3181445" cy="584776"/>
            </a:xfrm>
          </p:grpSpPr>
          <p:sp>
            <p:nvSpPr>
              <p:cNvPr id="107" name="Google Shape;107;p14"/>
              <p:cNvSpPr/>
              <p:nvPr/>
            </p:nvSpPr>
            <p:spPr>
              <a:xfrm>
                <a:off x="690150" y="3854795"/>
                <a:ext cx="3181445" cy="584775"/>
              </a:xfrm>
              <a:prstGeom prst="roundRect">
                <a:avLst>
                  <a:gd name="adj" fmla="val 50000"/>
                </a:avLst>
              </a:prstGeom>
              <a:solidFill>
                <a:schemeClr val="lt1"/>
              </a:solidFill>
              <a:ln>
                <a:noFill/>
              </a:ln>
              <a:effectLst>
                <a:outerShdw blurRad="190500" sx="102000" sy="102000" algn="ctr" rotWithShape="0">
                  <a:srgbClr val="000000">
                    <a:alpha val="40000"/>
                  </a:srgbClr>
                </a:outerShdw>
              </a:effectLst>
            </p:spPr>
            <p:txBody>
              <a:bodyPr spcFirstLastPara="1" wrap="square" lIns="91425" tIns="45700" rIns="91425" bIns="45700" anchor="ctr" anchorCtr="0">
                <a:noAutofit/>
              </a:bodyPr>
              <a:lstStyle/>
              <a:p>
                <a:pPr lvl="0" algn="ctr"/>
                <a:r>
                  <a:rPr lang="en-US" sz="2400" b="1" i="1" dirty="0" smtClean="0">
                    <a:solidFill>
                      <a:srgbClr val="A2020D"/>
                    </a:solidFill>
                    <a:latin typeface="Calibri"/>
                    <a:ea typeface="Calibri"/>
                    <a:cs typeface="Calibri"/>
                    <a:sym typeface="Calibri"/>
                  </a:rPr>
                  <a:t>“Built For Apple Intelligence”</a:t>
                </a:r>
                <a:endParaRPr lang="en-US" sz="2400" b="1" i="1" dirty="0">
                  <a:solidFill>
                    <a:srgbClr val="A2020D"/>
                  </a:solidFill>
                  <a:latin typeface="Georgia"/>
                  <a:ea typeface="Georgia"/>
                  <a:cs typeface="Georgia"/>
                  <a:sym typeface="Georgia"/>
                </a:endParaRPr>
              </a:p>
            </p:txBody>
          </p:sp>
          <p:sp>
            <p:nvSpPr>
              <p:cNvPr id="108" name="Google Shape;108;p14"/>
              <p:cNvSpPr/>
              <p:nvPr/>
            </p:nvSpPr>
            <p:spPr>
              <a:xfrm>
                <a:off x="3245110" y="3854794"/>
                <a:ext cx="584775" cy="584775"/>
              </a:xfrm>
              <a:prstGeom prst="ellipse">
                <a:avLst/>
              </a:prstGeom>
              <a:solidFill>
                <a:schemeClr val="accent6"/>
              </a:solidFill>
              <a:ln w="38100" cap="flat" cmpd="sng">
                <a:solidFill>
                  <a:schemeClr val="lt1"/>
                </a:solidFill>
                <a:prstDash val="solid"/>
                <a:miter lim="800000"/>
                <a:headEnd type="none" w="sm" len="sm"/>
                <a:tailEnd type="none" w="sm" len="sm"/>
              </a:ln>
              <a:effectLst>
                <a:outerShdw blurRad="1778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cxnSp>
          <p:nvCxnSpPr>
            <p:cNvPr id="109" name="Google Shape;109;p14"/>
            <p:cNvCxnSpPr/>
            <p:nvPr/>
          </p:nvCxnSpPr>
          <p:spPr>
            <a:xfrm>
              <a:off x="3665943" y="4240067"/>
              <a:ext cx="409339" cy="0"/>
            </a:xfrm>
            <a:prstGeom prst="straightConnector1">
              <a:avLst/>
            </a:prstGeom>
            <a:noFill/>
            <a:ln w="38100" cap="flat" cmpd="sng">
              <a:solidFill>
                <a:schemeClr val="lt1"/>
              </a:solidFill>
              <a:prstDash val="solid"/>
              <a:miter lim="800000"/>
              <a:headEnd type="none" w="sm" len="sm"/>
              <a:tailEnd type="triangle" w="med" len="med"/>
            </a:ln>
          </p:spPr>
        </p:cxnSp>
      </p:grpSp>
      <p:sp>
        <p:nvSpPr>
          <p:cNvPr id="111" name="Google Shape;111;p14"/>
          <p:cNvSpPr/>
          <p:nvPr/>
        </p:nvSpPr>
        <p:spPr>
          <a:xfrm>
            <a:off x="6310314" y="1000108"/>
            <a:ext cx="5643602" cy="4901529"/>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12" name="Google Shape;112;p14"/>
          <p:cNvSpPr/>
          <p:nvPr/>
        </p:nvSpPr>
        <p:spPr>
          <a:xfrm>
            <a:off x="6810380" y="1428736"/>
            <a:ext cx="1905000" cy="6759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200" b="1" i="1" dirty="0" smtClean="0">
                <a:solidFill>
                  <a:schemeClr val="accent6"/>
                </a:solidFill>
              </a:rPr>
              <a:t>Measure Central Tendency of App Ratings</a:t>
            </a:r>
            <a:endParaRPr sz="1200" b="1" i="1">
              <a:solidFill>
                <a:schemeClr val="accent6"/>
              </a:solidFill>
              <a:latin typeface="Calibri"/>
              <a:ea typeface="Calibri"/>
              <a:cs typeface="Calibri"/>
              <a:sym typeface="Calibri"/>
            </a:endParaRPr>
          </a:p>
        </p:txBody>
      </p:sp>
      <p:sp>
        <p:nvSpPr>
          <p:cNvPr id="113" name="Google Shape;113;p14"/>
          <p:cNvSpPr/>
          <p:nvPr/>
        </p:nvSpPr>
        <p:spPr>
          <a:xfrm>
            <a:off x="9810776" y="1357298"/>
            <a:ext cx="1905000" cy="6759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200" b="1" i="1" dirty="0">
                <a:solidFill>
                  <a:srgbClr val="C00000"/>
                </a:solidFill>
                <a:latin typeface="Calibri"/>
                <a:ea typeface="Calibri"/>
                <a:cs typeface="Calibri"/>
                <a:sym typeface="Calibri"/>
              </a:rPr>
              <a:t> </a:t>
            </a:r>
            <a:r>
              <a:rPr lang="en-US" sz="1200" b="1" i="1" dirty="0" smtClean="0">
                <a:solidFill>
                  <a:srgbClr val="C00000"/>
                </a:solidFill>
              </a:rPr>
              <a:t>Analyze Purchase Behavior Spread</a:t>
            </a:r>
            <a:endParaRPr sz="1200" b="1" i="1">
              <a:solidFill>
                <a:srgbClr val="C00000"/>
              </a:solidFill>
              <a:latin typeface="Calibri"/>
              <a:ea typeface="Calibri"/>
              <a:cs typeface="Calibri"/>
              <a:sym typeface="Calibri"/>
            </a:endParaRPr>
          </a:p>
        </p:txBody>
      </p:sp>
      <p:sp>
        <p:nvSpPr>
          <p:cNvPr id="114" name="Google Shape;114;p14"/>
          <p:cNvSpPr/>
          <p:nvPr/>
        </p:nvSpPr>
        <p:spPr>
          <a:xfrm>
            <a:off x="6881818" y="2428868"/>
            <a:ext cx="1905000" cy="6759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200" b="1" i="1" dirty="0" smtClean="0">
                <a:solidFill>
                  <a:srgbClr val="C00000"/>
                </a:solidFill>
              </a:rPr>
              <a:t>Assess Engagement Variability</a:t>
            </a:r>
            <a:endParaRPr sz="1200" b="1" i="1">
              <a:solidFill>
                <a:srgbClr val="C00000"/>
              </a:solidFill>
              <a:latin typeface="Calibri"/>
              <a:ea typeface="Calibri"/>
              <a:cs typeface="Calibri"/>
              <a:sym typeface="Calibri"/>
            </a:endParaRPr>
          </a:p>
        </p:txBody>
      </p:sp>
      <p:sp>
        <p:nvSpPr>
          <p:cNvPr id="115" name="Google Shape;115;p14"/>
          <p:cNvSpPr/>
          <p:nvPr/>
        </p:nvSpPr>
        <p:spPr>
          <a:xfrm>
            <a:off x="9810776" y="2428868"/>
            <a:ext cx="1905000" cy="71438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lgn="ctr"/>
            <a:r>
              <a:rPr lang="en-US" b="1" i="1" dirty="0" smtClean="0">
                <a:solidFill>
                  <a:srgbClr val="C00000"/>
                </a:solidFill>
              </a:rPr>
              <a:t>Examine Rating Distribution Shape</a:t>
            </a:r>
            <a:endParaRPr b="1" i="1">
              <a:solidFill>
                <a:srgbClr val="C00000"/>
              </a:solidFill>
              <a:latin typeface="Calibri"/>
              <a:ea typeface="Calibri"/>
              <a:cs typeface="Calibri"/>
              <a:sym typeface="Calibri"/>
            </a:endParaRPr>
          </a:p>
        </p:txBody>
      </p:sp>
      <p:sp>
        <p:nvSpPr>
          <p:cNvPr id="116" name="Google Shape;116;p14"/>
          <p:cNvSpPr/>
          <p:nvPr/>
        </p:nvSpPr>
        <p:spPr>
          <a:xfrm>
            <a:off x="6953256" y="3643314"/>
            <a:ext cx="1905000" cy="7497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200" b="1" i="1" dirty="0" smtClean="0">
                <a:solidFill>
                  <a:srgbClr val="C00000"/>
                </a:solidFill>
              </a:rPr>
              <a:t>Explore Relationships</a:t>
            </a:r>
            <a:endParaRPr sz="1200" b="1" i="1">
              <a:solidFill>
                <a:srgbClr val="C00000"/>
              </a:solidFill>
              <a:latin typeface="Calibri"/>
              <a:ea typeface="Calibri"/>
              <a:cs typeface="Calibri"/>
              <a:sym typeface="Calibri"/>
            </a:endParaRPr>
          </a:p>
        </p:txBody>
      </p:sp>
      <p:pic>
        <p:nvPicPr>
          <p:cNvPr id="26" name="Picture 8" descr="Free Apple Logo Transparent Background, Download Free Apple Logo ..."/>
          <p:cNvPicPr>
            <a:picLocks noChangeAspect="1" noChangeArrowheads="1"/>
          </p:cNvPicPr>
          <p:nvPr/>
        </p:nvPicPr>
        <p:blipFill>
          <a:blip r:embed="rId3"/>
          <a:srcRect/>
          <a:stretch>
            <a:fillRect/>
          </a:stretch>
        </p:blipFill>
        <p:spPr bwMode="auto">
          <a:xfrm>
            <a:off x="0" y="0"/>
            <a:ext cx="1452529" cy="1452529"/>
          </a:xfrm>
          <a:prstGeom prst="rect">
            <a:avLst/>
          </a:prstGeom>
          <a:noFill/>
        </p:spPr>
      </p:pic>
      <p:sp>
        <p:nvSpPr>
          <p:cNvPr id="27" name="Google Shape;116;p14"/>
          <p:cNvSpPr/>
          <p:nvPr/>
        </p:nvSpPr>
        <p:spPr>
          <a:xfrm>
            <a:off x="9810776" y="3571876"/>
            <a:ext cx="1905000" cy="7497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200" b="1" i="1" dirty="0" smtClean="0">
                <a:solidFill>
                  <a:srgbClr val="C00000"/>
                </a:solidFill>
              </a:rPr>
              <a:t>Compare App Performance</a:t>
            </a:r>
            <a:endParaRPr sz="1200" b="1" i="1">
              <a:solidFill>
                <a:srgbClr val="C00000"/>
              </a:solidFill>
              <a:latin typeface="Calibri"/>
              <a:ea typeface="Calibri"/>
              <a:cs typeface="Calibri"/>
              <a:sym typeface="Calibri"/>
            </a:endParaRPr>
          </a:p>
        </p:txBody>
      </p:sp>
      <p:sp>
        <p:nvSpPr>
          <p:cNvPr id="28" name="Google Shape;116;p14"/>
          <p:cNvSpPr/>
          <p:nvPr/>
        </p:nvSpPr>
        <p:spPr>
          <a:xfrm>
            <a:off x="8310578" y="4857760"/>
            <a:ext cx="1905000" cy="749700"/>
          </a:xfrm>
          <a:prstGeom prst="roundRect">
            <a:avLst>
              <a:gd name="adj" fmla="val 16667"/>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lgn="ctr"/>
            <a:r>
              <a:rPr lang="en-US" sz="1200" b="1" i="1" dirty="0" smtClean="0">
                <a:solidFill>
                  <a:srgbClr val="C00000"/>
                </a:solidFill>
              </a:rPr>
              <a:t>Demonstrate the Central Limit Theorem (CLT)</a:t>
            </a:r>
            <a:endParaRPr sz="1200" b="1" i="1">
              <a:solidFill>
                <a:srgbClr val="C00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5"/>
          <p:cNvSpPr/>
          <p:nvPr/>
        </p:nvSpPr>
        <p:spPr>
          <a:xfrm>
            <a:off x="1" y="0"/>
            <a:ext cx="973777" cy="1163782"/>
          </a:xfrm>
          <a:custGeom>
            <a:avLst/>
            <a:gdLst/>
            <a:ahLst/>
            <a:cxnLst/>
            <a:rect l="l" t="t" r="r" b="b"/>
            <a:pathLst>
              <a:path w="973777" h="1163782" extrusionOk="0">
                <a:moveTo>
                  <a:pt x="0" y="0"/>
                </a:moveTo>
                <a:lnTo>
                  <a:pt x="754972" y="0"/>
                </a:lnTo>
                <a:lnTo>
                  <a:pt x="777259" y="18388"/>
                </a:lnTo>
                <a:cubicBezTo>
                  <a:pt x="898678" y="139808"/>
                  <a:pt x="973777" y="307547"/>
                  <a:pt x="973777" y="492826"/>
                </a:cubicBezTo>
                <a:cubicBezTo>
                  <a:pt x="973777" y="863385"/>
                  <a:pt x="673380" y="1163782"/>
                  <a:pt x="302821" y="1163782"/>
                </a:cubicBezTo>
                <a:cubicBezTo>
                  <a:pt x="210181" y="1163782"/>
                  <a:pt x="121927" y="1145007"/>
                  <a:pt x="41655" y="1111055"/>
                </a:cubicBezTo>
                <a:lnTo>
                  <a:pt x="0" y="1088445"/>
                </a:lnTo>
                <a:lnTo>
                  <a:pt x="0"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2" name="Google Shape;122;p15"/>
          <p:cNvSpPr/>
          <p:nvPr/>
        </p:nvSpPr>
        <p:spPr>
          <a:xfrm rot="-5400000">
            <a:off x="11100412" y="5766412"/>
            <a:ext cx="1086593" cy="1096583"/>
          </a:xfrm>
          <a:custGeom>
            <a:avLst/>
            <a:gdLst/>
            <a:ahLst/>
            <a:cxnLst/>
            <a:rect l="l" t="t" r="r" b="b"/>
            <a:pathLst>
              <a:path w="1086593" h="1096583" extrusionOk="0">
                <a:moveTo>
                  <a:pt x="1086593" y="670956"/>
                </a:moveTo>
                <a:cubicBezTo>
                  <a:pt x="1086593" y="809916"/>
                  <a:pt x="1044350" y="939009"/>
                  <a:pt x="972004" y="1046094"/>
                </a:cubicBezTo>
                <a:lnTo>
                  <a:pt x="930348" y="1096583"/>
                </a:lnTo>
                <a:lnTo>
                  <a:pt x="0" y="1096583"/>
                </a:lnTo>
                <a:lnTo>
                  <a:pt x="0" y="148003"/>
                </a:lnTo>
                <a:lnTo>
                  <a:pt x="40499" y="114589"/>
                </a:lnTo>
                <a:cubicBezTo>
                  <a:pt x="147585" y="42243"/>
                  <a:pt x="276678" y="0"/>
                  <a:pt x="415637" y="0"/>
                </a:cubicBezTo>
                <a:cubicBezTo>
                  <a:pt x="786196" y="0"/>
                  <a:pt x="1086593" y="300397"/>
                  <a:pt x="1086593" y="670956"/>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4" name="Google Shape;124;p15"/>
          <p:cNvSpPr/>
          <p:nvPr/>
        </p:nvSpPr>
        <p:spPr>
          <a:xfrm>
            <a:off x="4203300" y="368700"/>
            <a:ext cx="7288200" cy="3515100"/>
          </a:xfrm>
          <a:prstGeom prst="roundRect">
            <a:avLst>
              <a:gd name="adj" fmla="val 16667"/>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just" rtl="0">
              <a:lnSpc>
                <a:spcPct val="115000"/>
              </a:lnSpc>
              <a:spcBef>
                <a:spcPts val="1800"/>
              </a:spcBef>
              <a:spcAft>
                <a:spcPts val="0"/>
              </a:spcAft>
              <a:buClr>
                <a:schemeClr val="dk1"/>
              </a:buClr>
              <a:buSzPts val="1100"/>
              <a:buFont typeface="Arial"/>
              <a:buNone/>
            </a:pPr>
            <a:r>
              <a:rPr lang="en-US" sz="2000" b="1" i="1" dirty="0" smtClean="0">
                <a:solidFill>
                  <a:schemeClr val="dk1"/>
                </a:solidFill>
                <a:latin typeface="Calibri" pitchFamily="34" charset="0"/>
                <a:ea typeface="Calibri" pitchFamily="34" charset="0"/>
                <a:cs typeface="Calibri" pitchFamily="34" charset="0"/>
              </a:rPr>
              <a:t>Problem Statement</a:t>
            </a:r>
            <a:endParaRPr sz="2000" b="1" i="1">
              <a:solidFill>
                <a:schemeClr val="dk1"/>
              </a:solidFill>
              <a:latin typeface="Calibri" pitchFamily="34" charset="0"/>
              <a:ea typeface="Calibri" pitchFamily="34" charset="0"/>
              <a:cs typeface="Calibri" pitchFamily="34" charset="0"/>
            </a:endParaRPr>
          </a:p>
          <a:p>
            <a:r>
              <a:rPr lang="en-US" sz="1600" b="1" i="1" dirty="0" smtClean="0">
                <a:latin typeface="Calibri" pitchFamily="34" charset="0"/>
                <a:ea typeface="Calibri" pitchFamily="34" charset="0"/>
                <a:cs typeface="Calibri" pitchFamily="34" charset="0"/>
              </a:rPr>
              <a:t> Mobile </a:t>
            </a:r>
            <a:r>
              <a:rPr lang="en-US" sz="1600" b="1" i="1" dirty="0" smtClean="0">
                <a:latin typeface="Calibri" pitchFamily="34" charset="0"/>
                <a:ea typeface="Calibri" pitchFamily="34" charset="0"/>
                <a:cs typeface="Calibri" pitchFamily="34" charset="0"/>
              </a:rPr>
              <a:t>applications on the Apple App Store rely heavily on user reviews and ratings to understand customer satisfaction, identify improvement areas, and drive product decisions. However, raw review data often contains variability, noise, and subjective biases, making it essential to apply statistical methods to extract meaningful insights.</a:t>
            </a:r>
          </a:p>
          <a:p>
            <a:r>
              <a:rPr lang="en-US" sz="1600" b="1" i="1" dirty="0" smtClean="0">
                <a:latin typeface="Calibri" pitchFamily="34" charset="0"/>
                <a:ea typeface="Calibri" pitchFamily="34" charset="0"/>
                <a:cs typeface="Calibri" pitchFamily="34" charset="0"/>
              </a:rPr>
              <a:t>In this analysis, we aim to evaluate user sentiment and engagement patterns across popular mobile applications by performing both descriptive and inferential statistical analysis on an Apple App Store reviews dataset.</a:t>
            </a:r>
          </a:p>
          <a:p>
            <a:pPr marL="0" lvl="0" indent="0" algn="ctr" rtl="0">
              <a:spcBef>
                <a:spcPts val="1200"/>
              </a:spcBef>
              <a:spcAft>
                <a:spcPts val="0"/>
              </a:spcAft>
              <a:buNone/>
            </a:pPr>
            <a:endParaRPr sz="1600">
              <a:latin typeface="+mn-lt"/>
              <a:ea typeface="Calibri"/>
              <a:cs typeface="Calibri"/>
              <a:sym typeface="Calibri"/>
            </a:endParaRPr>
          </a:p>
        </p:txBody>
      </p:sp>
      <p:sp>
        <p:nvSpPr>
          <p:cNvPr id="125" name="Google Shape;125;p15"/>
          <p:cNvSpPr/>
          <p:nvPr/>
        </p:nvSpPr>
        <p:spPr>
          <a:xfrm>
            <a:off x="4584300" y="4296600"/>
            <a:ext cx="6071400" cy="1474800"/>
          </a:xfrm>
          <a:prstGeom prst="roundRect">
            <a:avLst>
              <a:gd name="adj" fmla="val 16667"/>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2400" dirty="0">
                <a:latin typeface="Calibri"/>
                <a:ea typeface="Calibri"/>
                <a:cs typeface="Calibri"/>
                <a:sym typeface="Calibri"/>
              </a:rPr>
              <a:t>Use </a:t>
            </a:r>
            <a:r>
              <a:rPr lang="en-US" sz="2400" dirty="0" smtClean="0">
                <a:latin typeface="Calibri"/>
                <a:ea typeface="Calibri"/>
                <a:cs typeface="Calibri"/>
                <a:sym typeface="Calibri"/>
              </a:rPr>
              <a:t>Statistics Analysis to </a:t>
            </a:r>
            <a:r>
              <a:rPr lang="en-US" sz="2400" dirty="0">
                <a:latin typeface="Calibri"/>
                <a:ea typeface="Calibri"/>
                <a:cs typeface="Calibri"/>
                <a:sym typeface="Calibri"/>
              </a:rPr>
              <a:t>analyze </a:t>
            </a:r>
            <a:r>
              <a:rPr lang="en-US" sz="2400" dirty="0" smtClean="0">
                <a:latin typeface="Calibri"/>
                <a:ea typeface="Calibri"/>
                <a:cs typeface="Calibri"/>
                <a:sym typeface="Calibri"/>
              </a:rPr>
              <a:t>Apple store Reviews for </a:t>
            </a:r>
            <a:r>
              <a:rPr lang="en-US" sz="2400" dirty="0">
                <a:latin typeface="Calibri"/>
                <a:ea typeface="Calibri"/>
                <a:cs typeface="Calibri"/>
                <a:sym typeface="Calibri"/>
              </a:rPr>
              <a:t>better decisions.</a:t>
            </a:r>
            <a:endParaRPr sz="2400">
              <a:latin typeface="Calibri"/>
              <a:ea typeface="Calibri"/>
              <a:cs typeface="Calibri"/>
              <a:sym typeface="Calibri"/>
            </a:endParaRPr>
          </a:p>
        </p:txBody>
      </p:sp>
      <p:pic>
        <p:nvPicPr>
          <p:cNvPr id="7" name="Picture 8" descr="Free Apple Logo Transparent Background, Download Free Apple Logo ..."/>
          <p:cNvPicPr>
            <a:picLocks noChangeAspect="1" noChangeArrowheads="1"/>
          </p:cNvPicPr>
          <p:nvPr/>
        </p:nvPicPr>
        <p:blipFill>
          <a:blip r:embed="rId3"/>
          <a:srcRect/>
          <a:stretch>
            <a:fillRect/>
          </a:stretch>
        </p:blipFill>
        <p:spPr bwMode="auto">
          <a:xfrm>
            <a:off x="0" y="0"/>
            <a:ext cx="1452529" cy="1452529"/>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6"/>
          <p:cNvSpPr/>
          <p:nvPr/>
        </p:nvSpPr>
        <p:spPr>
          <a:xfrm>
            <a:off x="1" y="0"/>
            <a:ext cx="973777" cy="1163782"/>
          </a:xfrm>
          <a:custGeom>
            <a:avLst/>
            <a:gdLst/>
            <a:ahLst/>
            <a:cxnLst/>
            <a:rect l="l" t="t" r="r" b="b"/>
            <a:pathLst>
              <a:path w="973777" h="1163782" extrusionOk="0">
                <a:moveTo>
                  <a:pt x="0" y="0"/>
                </a:moveTo>
                <a:lnTo>
                  <a:pt x="754972" y="0"/>
                </a:lnTo>
                <a:lnTo>
                  <a:pt x="777259" y="18388"/>
                </a:lnTo>
                <a:cubicBezTo>
                  <a:pt x="898678" y="139808"/>
                  <a:pt x="973777" y="307547"/>
                  <a:pt x="973777" y="492826"/>
                </a:cubicBezTo>
                <a:cubicBezTo>
                  <a:pt x="973777" y="863385"/>
                  <a:pt x="673380" y="1163782"/>
                  <a:pt x="302821" y="1163782"/>
                </a:cubicBezTo>
                <a:cubicBezTo>
                  <a:pt x="210181" y="1163782"/>
                  <a:pt x="121927" y="1145007"/>
                  <a:pt x="41655" y="1111055"/>
                </a:cubicBezTo>
                <a:lnTo>
                  <a:pt x="0" y="1088445"/>
                </a:lnTo>
                <a:lnTo>
                  <a:pt x="0"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1" name="Google Shape;131;p16"/>
          <p:cNvSpPr/>
          <p:nvPr/>
        </p:nvSpPr>
        <p:spPr>
          <a:xfrm rot="-5400000">
            <a:off x="11100412" y="5766412"/>
            <a:ext cx="1086593" cy="1096583"/>
          </a:xfrm>
          <a:custGeom>
            <a:avLst/>
            <a:gdLst/>
            <a:ahLst/>
            <a:cxnLst/>
            <a:rect l="l" t="t" r="r" b="b"/>
            <a:pathLst>
              <a:path w="1086593" h="1096583" extrusionOk="0">
                <a:moveTo>
                  <a:pt x="1086593" y="670956"/>
                </a:moveTo>
                <a:cubicBezTo>
                  <a:pt x="1086593" y="809916"/>
                  <a:pt x="1044350" y="939009"/>
                  <a:pt x="972004" y="1046094"/>
                </a:cubicBezTo>
                <a:lnTo>
                  <a:pt x="930348" y="1096583"/>
                </a:lnTo>
                <a:lnTo>
                  <a:pt x="0" y="1096583"/>
                </a:lnTo>
                <a:lnTo>
                  <a:pt x="0" y="148003"/>
                </a:lnTo>
                <a:lnTo>
                  <a:pt x="40499" y="114589"/>
                </a:lnTo>
                <a:cubicBezTo>
                  <a:pt x="147585" y="42243"/>
                  <a:pt x="276678" y="0"/>
                  <a:pt x="415637" y="0"/>
                </a:cubicBezTo>
                <a:cubicBezTo>
                  <a:pt x="786196" y="0"/>
                  <a:pt x="1086593" y="300397"/>
                  <a:pt x="1086593" y="670956"/>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3" name="Google Shape;133;p16"/>
          <p:cNvSpPr/>
          <p:nvPr/>
        </p:nvSpPr>
        <p:spPr>
          <a:xfrm>
            <a:off x="4264750" y="147475"/>
            <a:ext cx="7288200" cy="4953000"/>
          </a:xfrm>
          <a:prstGeom prst="roundRect">
            <a:avLst>
              <a:gd name="adj" fmla="val 16667"/>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US" sz="4000" b="1" dirty="0" smtClean="0">
                <a:solidFill>
                  <a:schemeClr val="dk1"/>
                </a:solidFill>
              </a:rPr>
              <a:t> </a:t>
            </a:r>
            <a:r>
              <a:rPr lang="en-US" sz="3100" b="1" dirty="0" smtClean="0">
                <a:solidFill>
                  <a:schemeClr val="dk1"/>
                </a:solidFill>
              </a:rPr>
              <a:t>Rating Analysis</a:t>
            </a:r>
            <a:endParaRPr sz="3100" b="1" smtClean="0">
              <a:solidFill>
                <a:schemeClr val="dk1"/>
              </a:solidFill>
            </a:endParaRPr>
          </a:p>
          <a:p>
            <a:pPr marL="457200" lvl="0" indent="-336550">
              <a:lnSpc>
                <a:spcPct val="115000"/>
              </a:lnSpc>
              <a:spcBef>
                <a:spcPts val="1200"/>
              </a:spcBef>
              <a:buClr>
                <a:schemeClr val="dk1"/>
              </a:buClr>
              <a:buSzPts val="1700"/>
            </a:pPr>
            <a:r>
              <a:rPr lang="en-US" sz="1800" b="1" dirty="0" smtClean="0"/>
              <a:t>     Mean: 2.869 </a:t>
            </a:r>
            <a:r>
              <a:rPr lang="en-US" sz="1800" dirty="0" smtClean="0"/>
              <a:t>The mean is slightly below 3, suggesting that  extreme low ratings (like 1) are pulling the average down </a:t>
            </a:r>
            <a:r>
              <a:rPr lang="en-US" sz="1800" b="1" dirty="0" smtClean="0"/>
              <a:t>Median: 3 </a:t>
            </a:r>
            <a:r>
              <a:rPr lang="en-US" sz="1800" dirty="0" smtClean="0"/>
              <a:t>The median indicates that half of the ratings are below and half are above this value, making it a better representation of central tendency in this case </a:t>
            </a:r>
            <a:r>
              <a:rPr lang="en-US" sz="1700" dirty="0" smtClean="0">
                <a:solidFill>
                  <a:schemeClr val="dk1"/>
                </a:solidFill>
              </a:rPr>
              <a:t/>
            </a:r>
            <a:br>
              <a:rPr lang="en-US" sz="1700" dirty="0" smtClean="0">
                <a:solidFill>
                  <a:schemeClr val="dk1"/>
                </a:solidFill>
              </a:rPr>
            </a:br>
            <a:r>
              <a:rPr lang="en-US" sz="1800" b="1" dirty="0" smtClean="0"/>
              <a:t>Mode: 1 </a:t>
            </a:r>
            <a:r>
              <a:rPr lang="en-US" sz="1800" dirty="0" smtClean="0"/>
              <a:t>The mode being the most frequent rating indicates a significant number of users rated the app poorly </a:t>
            </a:r>
          </a:p>
          <a:p>
            <a:pPr marL="457200" lvl="0" indent="-336550">
              <a:lnSpc>
                <a:spcPct val="115000"/>
              </a:lnSpc>
              <a:buClr>
                <a:schemeClr val="dk1"/>
              </a:buClr>
              <a:buSzPts val="1700"/>
            </a:pPr>
            <a:r>
              <a:rPr lang="en-US" sz="1800" dirty="0" smtClean="0"/>
              <a:t>     </a:t>
            </a:r>
            <a:r>
              <a:rPr lang="en-US" sz="1800" b="1" dirty="0" smtClean="0"/>
              <a:t>Conclusion</a:t>
            </a:r>
            <a:r>
              <a:rPr lang="en-US" sz="1800" b="1" dirty="0" smtClean="0"/>
              <a:t>: </a:t>
            </a:r>
            <a:r>
              <a:rPr lang="en-US" sz="1800" dirty="0" smtClean="0"/>
              <a:t>The median best represents the central tendency of the ratings, as it is not skewed by extreme values and reflects the "middle" user experience better than the mean</a:t>
            </a:r>
            <a:endParaRPr sz="1700" smtClean="0">
              <a:solidFill>
                <a:schemeClr val="dk1"/>
              </a:solidFill>
            </a:endParaRPr>
          </a:p>
          <a:p>
            <a:pPr marL="0" lvl="0" indent="0" algn="ctr" rtl="0">
              <a:spcBef>
                <a:spcPts val="1200"/>
              </a:spcBef>
              <a:spcAft>
                <a:spcPts val="0"/>
              </a:spcAft>
              <a:buNone/>
            </a:pPr>
            <a:endParaRPr sz="2600" b="1">
              <a:solidFill>
                <a:schemeClr val="dk1"/>
              </a:solidFill>
            </a:endParaRPr>
          </a:p>
        </p:txBody>
      </p:sp>
      <p:sp>
        <p:nvSpPr>
          <p:cNvPr id="134" name="Google Shape;134;p16"/>
          <p:cNvSpPr/>
          <p:nvPr/>
        </p:nvSpPr>
        <p:spPr>
          <a:xfrm>
            <a:off x="4731800" y="5235725"/>
            <a:ext cx="6071400" cy="1474800"/>
          </a:xfrm>
          <a:prstGeom prst="roundRect">
            <a:avLst>
              <a:gd name="adj" fmla="val 16667"/>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lgn="ctr"/>
            <a:r>
              <a:rPr lang="en-US" sz="2400" dirty="0" smtClean="0"/>
              <a:t>MEDIAN IS BEST</a:t>
            </a:r>
            <a:endParaRPr sz="2400">
              <a:latin typeface="Calibri"/>
              <a:ea typeface="Calibri"/>
              <a:cs typeface="Calibri"/>
              <a:sym typeface="Calibri"/>
            </a:endParaRPr>
          </a:p>
        </p:txBody>
      </p:sp>
      <p:pic>
        <p:nvPicPr>
          <p:cNvPr id="7" name="Picture 8" descr="Free Apple Logo Transparent Background, Download Free Apple Logo ..."/>
          <p:cNvPicPr>
            <a:picLocks noChangeAspect="1" noChangeArrowheads="1"/>
          </p:cNvPicPr>
          <p:nvPr/>
        </p:nvPicPr>
        <p:blipFill>
          <a:blip r:embed="rId3"/>
          <a:srcRect/>
          <a:stretch>
            <a:fillRect/>
          </a:stretch>
        </p:blipFill>
        <p:spPr bwMode="auto">
          <a:xfrm>
            <a:off x="0" y="0"/>
            <a:ext cx="1452529" cy="1452529"/>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6"/>
          <p:cNvSpPr/>
          <p:nvPr/>
        </p:nvSpPr>
        <p:spPr>
          <a:xfrm>
            <a:off x="1" y="0"/>
            <a:ext cx="973777" cy="1163782"/>
          </a:xfrm>
          <a:custGeom>
            <a:avLst/>
            <a:gdLst/>
            <a:ahLst/>
            <a:cxnLst/>
            <a:rect l="l" t="t" r="r" b="b"/>
            <a:pathLst>
              <a:path w="973777" h="1163782" extrusionOk="0">
                <a:moveTo>
                  <a:pt x="0" y="0"/>
                </a:moveTo>
                <a:lnTo>
                  <a:pt x="754972" y="0"/>
                </a:lnTo>
                <a:lnTo>
                  <a:pt x="777259" y="18388"/>
                </a:lnTo>
                <a:cubicBezTo>
                  <a:pt x="898678" y="139808"/>
                  <a:pt x="973777" y="307547"/>
                  <a:pt x="973777" y="492826"/>
                </a:cubicBezTo>
                <a:cubicBezTo>
                  <a:pt x="973777" y="863385"/>
                  <a:pt x="673380" y="1163782"/>
                  <a:pt x="302821" y="1163782"/>
                </a:cubicBezTo>
                <a:cubicBezTo>
                  <a:pt x="210181" y="1163782"/>
                  <a:pt x="121927" y="1145007"/>
                  <a:pt x="41655" y="1111055"/>
                </a:cubicBezTo>
                <a:lnTo>
                  <a:pt x="0" y="1088445"/>
                </a:lnTo>
                <a:lnTo>
                  <a:pt x="0"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1" name="Google Shape;131;p16"/>
          <p:cNvSpPr/>
          <p:nvPr/>
        </p:nvSpPr>
        <p:spPr>
          <a:xfrm rot="-5400000">
            <a:off x="11100412" y="5766412"/>
            <a:ext cx="1086593" cy="1096583"/>
          </a:xfrm>
          <a:custGeom>
            <a:avLst/>
            <a:gdLst/>
            <a:ahLst/>
            <a:cxnLst/>
            <a:rect l="l" t="t" r="r" b="b"/>
            <a:pathLst>
              <a:path w="1086593" h="1096583" extrusionOk="0">
                <a:moveTo>
                  <a:pt x="1086593" y="670956"/>
                </a:moveTo>
                <a:cubicBezTo>
                  <a:pt x="1086593" y="809916"/>
                  <a:pt x="1044350" y="939009"/>
                  <a:pt x="972004" y="1046094"/>
                </a:cubicBezTo>
                <a:lnTo>
                  <a:pt x="930348" y="1096583"/>
                </a:lnTo>
                <a:lnTo>
                  <a:pt x="0" y="1096583"/>
                </a:lnTo>
                <a:lnTo>
                  <a:pt x="0" y="148003"/>
                </a:lnTo>
                <a:lnTo>
                  <a:pt x="40499" y="114589"/>
                </a:lnTo>
                <a:cubicBezTo>
                  <a:pt x="147585" y="42243"/>
                  <a:pt x="276678" y="0"/>
                  <a:pt x="415637" y="0"/>
                </a:cubicBezTo>
                <a:cubicBezTo>
                  <a:pt x="786196" y="0"/>
                  <a:pt x="1086593" y="300397"/>
                  <a:pt x="1086593" y="670956"/>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3" name="Google Shape;133;p16"/>
          <p:cNvSpPr/>
          <p:nvPr/>
        </p:nvSpPr>
        <p:spPr>
          <a:xfrm>
            <a:off x="4264750" y="147475"/>
            <a:ext cx="7288200" cy="4953000"/>
          </a:xfrm>
          <a:prstGeom prst="roundRect">
            <a:avLst>
              <a:gd name="adj" fmla="val 16667"/>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lvl="0"/>
            <a:r>
              <a:rPr lang="en-US" sz="2400" b="1" dirty="0" smtClean="0"/>
              <a:t>Variance and Standard Deviation</a:t>
            </a:r>
            <a:r>
              <a:rPr lang="en-US" sz="2400" b="1" dirty="0" smtClean="0"/>
              <a:t> </a:t>
            </a:r>
            <a:r>
              <a:rPr lang="en-US" sz="1800" b="1" dirty="0" smtClean="0"/>
              <a:t>    </a:t>
            </a:r>
          </a:p>
          <a:p>
            <a:pPr lvl="0"/>
            <a:endParaRPr lang="en-US" sz="1800" b="1" dirty="0" smtClean="0"/>
          </a:p>
          <a:p>
            <a:pPr lvl="0"/>
            <a:r>
              <a:rPr lang="en-US" sz="1800" b="1" dirty="0" smtClean="0"/>
              <a:t> Variance:- 822.8547 </a:t>
            </a:r>
          </a:p>
          <a:p>
            <a:pPr lvl="0"/>
            <a:endParaRPr lang="en-US" sz="1800" dirty="0" smtClean="0"/>
          </a:p>
          <a:p>
            <a:pPr lvl="0"/>
            <a:r>
              <a:rPr lang="en-US" sz="1800" dirty="0" smtClean="0"/>
              <a:t>Variance </a:t>
            </a:r>
            <a:r>
              <a:rPr lang="en-US" sz="1800" dirty="0" smtClean="0"/>
              <a:t>indicates the average squared deviation from the mean, reflecting the degree to which likes vary from the </a:t>
            </a:r>
            <a:r>
              <a:rPr lang="en-US" sz="1800" dirty="0" smtClean="0"/>
              <a:t>average.</a:t>
            </a:r>
          </a:p>
          <a:p>
            <a:pPr lvl="0"/>
            <a:endParaRPr lang="en-US" sz="1800" dirty="0" smtClean="0">
              <a:solidFill>
                <a:schemeClr val="dk1"/>
              </a:solidFill>
            </a:endParaRPr>
          </a:p>
          <a:p>
            <a:pPr lvl="0"/>
            <a:endParaRPr lang="en-US" sz="1800" dirty="0" smtClean="0">
              <a:solidFill>
                <a:schemeClr val="dk1"/>
              </a:solidFill>
            </a:endParaRPr>
          </a:p>
          <a:p>
            <a:pPr lvl="0"/>
            <a:endParaRPr lang="en-US" sz="1800" dirty="0" smtClean="0">
              <a:solidFill>
                <a:schemeClr val="dk1"/>
              </a:solidFill>
            </a:endParaRPr>
          </a:p>
          <a:p>
            <a:pPr lvl="0"/>
            <a:r>
              <a:rPr lang="en-US" sz="1800" b="1" dirty="0" smtClean="0"/>
              <a:t>Standard </a:t>
            </a:r>
            <a:r>
              <a:rPr lang="en-US" sz="1800" b="1" dirty="0" smtClean="0"/>
              <a:t>Deviation:-  28.6854</a:t>
            </a:r>
          </a:p>
          <a:p>
            <a:pPr lvl="0"/>
            <a:endParaRPr lang="en-US" sz="1800" dirty="0" smtClean="0"/>
          </a:p>
          <a:p>
            <a:pPr lvl="0"/>
            <a:r>
              <a:rPr lang="en-US" sz="1800" dirty="0" smtClean="0"/>
              <a:t>The </a:t>
            </a:r>
            <a:r>
              <a:rPr lang="en-US" sz="1800" dirty="0" smtClean="0"/>
              <a:t>standard deviation (28.6854) represents the spread in the same units as the original data, highlighting significant variability in user engagement with </a:t>
            </a:r>
            <a:r>
              <a:rPr lang="en-US" sz="1800" dirty="0" smtClean="0"/>
              <a:t>reviews.</a:t>
            </a:r>
            <a:endParaRPr sz="1800" smtClean="0">
              <a:solidFill>
                <a:schemeClr val="dk1"/>
              </a:solidFill>
            </a:endParaRPr>
          </a:p>
          <a:p>
            <a:pPr marL="0" lvl="0" indent="0" algn="ctr" rtl="0">
              <a:spcBef>
                <a:spcPts val="1200"/>
              </a:spcBef>
              <a:spcAft>
                <a:spcPts val="0"/>
              </a:spcAft>
              <a:buNone/>
            </a:pPr>
            <a:endParaRPr sz="2600" b="1">
              <a:solidFill>
                <a:schemeClr val="dk1"/>
              </a:solidFill>
            </a:endParaRPr>
          </a:p>
        </p:txBody>
      </p:sp>
      <p:sp>
        <p:nvSpPr>
          <p:cNvPr id="134" name="Google Shape;134;p16"/>
          <p:cNvSpPr/>
          <p:nvPr/>
        </p:nvSpPr>
        <p:spPr>
          <a:xfrm>
            <a:off x="4731800" y="5235725"/>
            <a:ext cx="6071400" cy="1474800"/>
          </a:xfrm>
          <a:prstGeom prst="roundRect">
            <a:avLst>
              <a:gd name="adj" fmla="val 16667"/>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lgn="ctr"/>
            <a:r>
              <a:rPr lang="en-US" sz="2400" b="1" dirty="0" smtClean="0"/>
              <a:t>Conclusion: </a:t>
            </a:r>
            <a:r>
              <a:rPr lang="en-US" sz="2000" dirty="0" smtClean="0"/>
              <a:t>A high standard deviation suggests diverse reactions among users, indicating that while some reviews received few likes, others received </a:t>
            </a:r>
            <a:r>
              <a:rPr lang="en-US" sz="2000" dirty="0" smtClean="0"/>
              <a:t>many.</a:t>
            </a:r>
            <a:endParaRPr sz="2000">
              <a:latin typeface="Calibri"/>
              <a:ea typeface="Calibri"/>
              <a:cs typeface="Calibri"/>
              <a:sym typeface="Calibri"/>
            </a:endParaRPr>
          </a:p>
        </p:txBody>
      </p:sp>
      <p:pic>
        <p:nvPicPr>
          <p:cNvPr id="7" name="Picture 8" descr="Free Apple Logo Transparent Background, Download Free Apple Logo ..."/>
          <p:cNvPicPr>
            <a:picLocks noChangeAspect="1" noChangeArrowheads="1"/>
          </p:cNvPicPr>
          <p:nvPr/>
        </p:nvPicPr>
        <p:blipFill>
          <a:blip r:embed="rId3"/>
          <a:srcRect/>
          <a:stretch>
            <a:fillRect/>
          </a:stretch>
        </p:blipFill>
        <p:spPr bwMode="auto">
          <a:xfrm>
            <a:off x="0" y="0"/>
            <a:ext cx="1452529" cy="1452529"/>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6"/>
          <p:cNvSpPr/>
          <p:nvPr/>
        </p:nvSpPr>
        <p:spPr>
          <a:xfrm>
            <a:off x="1" y="0"/>
            <a:ext cx="973777" cy="1163782"/>
          </a:xfrm>
          <a:custGeom>
            <a:avLst/>
            <a:gdLst/>
            <a:ahLst/>
            <a:cxnLst/>
            <a:rect l="l" t="t" r="r" b="b"/>
            <a:pathLst>
              <a:path w="973777" h="1163782" extrusionOk="0">
                <a:moveTo>
                  <a:pt x="0" y="0"/>
                </a:moveTo>
                <a:lnTo>
                  <a:pt x="754972" y="0"/>
                </a:lnTo>
                <a:lnTo>
                  <a:pt x="777259" y="18388"/>
                </a:lnTo>
                <a:cubicBezTo>
                  <a:pt x="898678" y="139808"/>
                  <a:pt x="973777" y="307547"/>
                  <a:pt x="973777" y="492826"/>
                </a:cubicBezTo>
                <a:cubicBezTo>
                  <a:pt x="973777" y="863385"/>
                  <a:pt x="673380" y="1163782"/>
                  <a:pt x="302821" y="1163782"/>
                </a:cubicBezTo>
                <a:cubicBezTo>
                  <a:pt x="210181" y="1163782"/>
                  <a:pt x="121927" y="1145007"/>
                  <a:pt x="41655" y="1111055"/>
                </a:cubicBezTo>
                <a:lnTo>
                  <a:pt x="0" y="1088445"/>
                </a:lnTo>
                <a:lnTo>
                  <a:pt x="0"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1" name="Google Shape;131;p16"/>
          <p:cNvSpPr/>
          <p:nvPr/>
        </p:nvSpPr>
        <p:spPr>
          <a:xfrm rot="-5400000">
            <a:off x="11100412" y="5766412"/>
            <a:ext cx="1086593" cy="1096583"/>
          </a:xfrm>
          <a:custGeom>
            <a:avLst/>
            <a:gdLst/>
            <a:ahLst/>
            <a:cxnLst/>
            <a:rect l="l" t="t" r="r" b="b"/>
            <a:pathLst>
              <a:path w="1086593" h="1096583" extrusionOk="0">
                <a:moveTo>
                  <a:pt x="1086593" y="670956"/>
                </a:moveTo>
                <a:cubicBezTo>
                  <a:pt x="1086593" y="809916"/>
                  <a:pt x="1044350" y="939009"/>
                  <a:pt x="972004" y="1046094"/>
                </a:cubicBezTo>
                <a:lnTo>
                  <a:pt x="930348" y="1096583"/>
                </a:lnTo>
                <a:lnTo>
                  <a:pt x="0" y="1096583"/>
                </a:lnTo>
                <a:lnTo>
                  <a:pt x="0" y="148003"/>
                </a:lnTo>
                <a:lnTo>
                  <a:pt x="40499" y="114589"/>
                </a:lnTo>
                <a:cubicBezTo>
                  <a:pt x="147585" y="42243"/>
                  <a:pt x="276678" y="0"/>
                  <a:pt x="415637" y="0"/>
                </a:cubicBezTo>
                <a:cubicBezTo>
                  <a:pt x="786196" y="0"/>
                  <a:pt x="1086593" y="300397"/>
                  <a:pt x="1086593" y="670956"/>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3" name="Google Shape;133;p16"/>
          <p:cNvSpPr/>
          <p:nvPr/>
        </p:nvSpPr>
        <p:spPr>
          <a:xfrm>
            <a:off x="4264750" y="147475"/>
            <a:ext cx="7288200" cy="4953000"/>
          </a:xfrm>
          <a:prstGeom prst="roundRect">
            <a:avLst>
              <a:gd name="adj" fmla="val 16667"/>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lvl="0"/>
            <a:r>
              <a:rPr lang="en-US" sz="2800" dirty="0" smtClean="0"/>
              <a:t>Spread of Purchase Amount</a:t>
            </a:r>
            <a:endParaRPr lang="en-US" sz="2800" b="1" dirty="0" smtClean="0"/>
          </a:p>
          <a:p>
            <a:pPr lvl="0"/>
            <a:r>
              <a:rPr lang="en-US" sz="1800" b="1" dirty="0" smtClean="0"/>
              <a:t>  </a:t>
            </a:r>
          </a:p>
          <a:p>
            <a:pPr lvl="0"/>
            <a:r>
              <a:rPr lang="en-US" sz="1800" b="1" i="1" dirty="0" smtClean="0"/>
              <a:t>Range: 19.97 </a:t>
            </a:r>
            <a:endParaRPr lang="en-US" sz="1800" b="1" i="1" dirty="0" smtClean="0"/>
          </a:p>
          <a:p>
            <a:pPr lvl="0"/>
            <a:endParaRPr lang="en-US" sz="1800" dirty="0" smtClean="0"/>
          </a:p>
          <a:p>
            <a:pPr lvl="0"/>
            <a:r>
              <a:rPr lang="en-US" sz="1800" dirty="0" smtClean="0">
                <a:latin typeface="Calibri" pitchFamily="34" charset="0"/>
                <a:ea typeface="Calibri" pitchFamily="34" charset="0"/>
                <a:cs typeface="Calibri" pitchFamily="34" charset="0"/>
              </a:rPr>
              <a:t>The </a:t>
            </a:r>
            <a:r>
              <a:rPr lang="en-US" sz="1800" dirty="0" smtClean="0">
                <a:latin typeface="Calibri" pitchFamily="34" charset="0"/>
                <a:ea typeface="Calibri" pitchFamily="34" charset="0"/>
                <a:cs typeface="Calibri" pitchFamily="34" charset="0"/>
              </a:rPr>
              <a:t>range of 19.97 provides a comprehensive view of the variability in purchase amounts, showing the difference between the highest and lowest </a:t>
            </a:r>
            <a:r>
              <a:rPr lang="en-US" sz="1800" dirty="0" smtClean="0">
                <a:latin typeface="Calibri" pitchFamily="34" charset="0"/>
                <a:ea typeface="Calibri" pitchFamily="34" charset="0"/>
                <a:cs typeface="Calibri" pitchFamily="34" charset="0"/>
              </a:rPr>
              <a:t>values.</a:t>
            </a:r>
          </a:p>
          <a:p>
            <a:pPr lvl="0"/>
            <a:endParaRPr lang="en-US" sz="1800" dirty="0" smtClean="0">
              <a:solidFill>
                <a:schemeClr val="dk1"/>
              </a:solidFill>
              <a:latin typeface="Calibri" pitchFamily="34" charset="0"/>
              <a:ea typeface="Calibri" pitchFamily="34" charset="0"/>
              <a:cs typeface="Calibri" pitchFamily="34" charset="0"/>
            </a:endParaRPr>
          </a:p>
          <a:p>
            <a:pPr lvl="0"/>
            <a:endParaRPr lang="en-US" sz="1800" dirty="0" smtClean="0">
              <a:solidFill>
                <a:schemeClr val="dk1"/>
              </a:solidFill>
              <a:latin typeface="Calibri" pitchFamily="34" charset="0"/>
              <a:ea typeface="Calibri" pitchFamily="34" charset="0"/>
              <a:cs typeface="Calibri" pitchFamily="34" charset="0"/>
            </a:endParaRPr>
          </a:p>
          <a:p>
            <a:pPr lvl="0"/>
            <a:r>
              <a:rPr lang="en-US" sz="1800" b="1" i="1" dirty="0" smtClean="0"/>
              <a:t>IQR: 10.1925 </a:t>
            </a:r>
            <a:endParaRPr lang="en-US" sz="1800" b="1" i="1" dirty="0" smtClean="0"/>
          </a:p>
          <a:p>
            <a:pPr lvl="0"/>
            <a:endParaRPr lang="en-US" sz="1800" dirty="0" smtClean="0"/>
          </a:p>
          <a:p>
            <a:pPr lvl="0"/>
            <a:r>
              <a:rPr lang="en-US" sz="1800" i="1" dirty="0" smtClean="0">
                <a:latin typeface="Calibri" pitchFamily="34" charset="0"/>
                <a:ea typeface="Calibri" pitchFamily="34" charset="0"/>
                <a:cs typeface="Calibri" pitchFamily="34" charset="0"/>
              </a:rPr>
              <a:t>The </a:t>
            </a:r>
            <a:r>
              <a:rPr lang="en-US" sz="1800" i="1" dirty="0" smtClean="0">
                <a:latin typeface="Calibri" pitchFamily="34" charset="0"/>
                <a:ea typeface="Calibri" pitchFamily="34" charset="0"/>
                <a:cs typeface="Calibri" pitchFamily="34" charset="0"/>
              </a:rPr>
              <a:t>IQR (10.1925), which measures the range of the middle 50% of the data, helps focus on typical purchase amounts without being influenced by </a:t>
            </a:r>
            <a:r>
              <a:rPr lang="en-US" sz="1800" i="1" dirty="0" smtClean="0">
                <a:latin typeface="Calibri" pitchFamily="34" charset="0"/>
                <a:ea typeface="Calibri" pitchFamily="34" charset="0"/>
                <a:cs typeface="Calibri" pitchFamily="34" charset="0"/>
              </a:rPr>
              <a:t>outliers.</a:t>
            </a:r>
            <a:endParaRPr sz="1800" i="1" smtClean="0">
              <a:solidFill>
                <a:schemeClr val="dk1"/>
              </a:solidFill>
              <a:latin typeface="Calibri" pitchFamily="34" charset="0"/>
              <a:ea typeface="Calibri" pitchFamily="34" charset="0"/>
              <a:cs typeface="Calibri" pitchFamily="34" charset="0"/>
            </a:endParaRPr>
          </a:p>
          <a:p>
            <a:pPr marL="0" lvl="0" indent="0" algn="ctr" rtl="0">
              <a:spcBef>
                <a:spcPts val="1200"/>
              </a:spcBef>
              <a:spcAft>
                <a:spcPts val="0"/>
              </a:spcAft>
              <a:buNone/>
            </a:pPr>
            <a:endParaRPr sz="2600" b="1">
              <a:solidFill>
                <a:schemeClr val="dk1"/>
              </a:solidFill>
            </a:endParaRPr>
          </a:p>
        </p:txBody>
      </p:sp>
      <p:sp>
        <p:nvSpPr>
          <p:cNvPr id="134" name="Google Shape;134;p16"/>
          <p:cNvSpPr/>
          <p:nvPr/>
        </p:nvSpPr>
        <p:spPr>
          <a:xfrm>
            <a:off x="4731800" y="5235725"/>
            <a:ext cx="6071400" cy="1474800"/>
          </a:xfrm>
          <a:prstGeom prst="roundRect">
            <a:avLst>
              <a:gd name="adj" fmla="val 16667"/>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lgn="ctr"/>
            <a:r>
              <a:rPr lang="en-US" sz="2400" b="1" dirty="0" smtClean="0"/>
              <a:t>Conclusion: </a:t>
            </a:r>
            <a:r>
              <a:rPr lang="en-US" sz="2000" dirty="0" smtClean="0"/>
              <a:t>The range offers an overview of data variability, while the IQR gives insight into the spread of typical purchase amounts, aiding in identifying </a:t>
            </a:r>
            <a:r>
              <a:rPr lang="en-US" sz="2000" dirty="0" smtClean="0"/>
              <a:t>anomalies.</a:t>
            </a:r>
            <a:endParaRPr sz="2000">
              <a:latin typeface="Calibri"/>
              <a:ea typeface="Calibri"/>
              <a:cs typeface="Calibri"/>
              <a:sym typeface="Calibri"/>
            </a:endParaRPr>
          </a:p>
        </p:txBody>
      </p:sp>
      <p:pic>
        <p:nvPicPr>
          <p:cNvPr id="7" name="Picture 8" descr="Free Apple Logo Transparent Background, Download Free Apple Logo ..."/>
          <p:cNvPicPr>
            <a:picLocks noChangeAspect="1" noChangeArrowheads="1"/>
          </p:cNvPicPr>
          <p:nvPr/>
        </p:nvPicPr>
        <p:blipFill>
          <a:blip r:embed="rId3"/>
          <a:srcRect/>
          <a:stretch>
            <a:fillRect/>
          </a:stretch>
        </p:blipFill>
        <p:spPr bwMode="auto">
          <a:xfrm>
            <a:off x="0" y="0"/>
            <a:ext cx="1452529" cy="1452529"/>
          </a:xfrm>
          <a:prstGeom prst="rect">
            <a:avLst/>
          </a:prstGeom>
          <a:noFill/>
        </p:spPr>
      </p:pic>
      <p:sp>
        <p:nvSpPr>
          <p:cNvPr id="9" name="Rounded Rectangle 8"/>
          <p:cNvSpPr/>
          <p:nvPr/>
        </p:nvSpPr>
        <p:spPr>
          <a:xfrm>
            <a:off x="166646" y="1714488"/>
            <a:ext cx="4000528" cy="5000660"/>
          </a:xfrm>
          <a:prstGeom prst="roundRect">
            <a:avLst/>
          </a:prstGeom>
          <a:solidFill>
            <a:schemeClr val="accent1">
              <a:lumMod val="20000"/>
              <a:lumOff val="80000"/>
            </a:schemeClr>
          </a:solidFill>
          <a:ln>
            <a:solidFill>
              <a:schemeClr val="bg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4274" name="Picture 2"/>
          <p:cNvPicPr>
            <a:picLocks noChangeAspect="1" noChangeArrowheads="1"/>
          </p:cNvPicPr>
          <p:nvPr/>
        </p:nvPicPr>
        <p:blipFill>
          <a:blip r:embed="rId4"/>
          <a:srcRect/>
          <a:stretch>
            <a:fillRect/>
          </a:stretch>
        </p:blipFill>
        <p:spPr bwMode="auto">
          <a:xfrm>
            <a:off x="380961" y="2000240"/>
            <a:ext cx="3643338" cy="4286280"/>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6"/>
          <p:cNvSpPr/>
          <p:nvPr/>
        </p:nvSpPr>
        <p:spPr>
          <a:xfrm>
            <a:off x="1" y="0"/>
            <a:ext cx="973777" cy="1163782"/>
          </a:xfrm>
          <a:custGeom>
            <a:avLst/>
            <a:gdLst/>
            <a:ahLst/>
            <a:cxnLst/>
            <a:rect l="l" t="t" r="r" b="b"/>
            <a:pathLst>
              <a:path w="973777" h="1163782" extrusionOk="0">
                <a:moveTo>
                  <a:pt x="0" y="0"/>
                </a:moveTo>
                <a:lnTo>
                  <a:pt x="754972" y="0"/>
                </a:lnTo>
                <a:lnTo>
                  <a:pt x="777259" y="18388"/>
                </a:lnTo>
                <a:cubicBezTo>
                  <a:pt x="898678" y="139808"/>
                  <a:pt x="973777" y="307547"/>
                  <a:pt x="973777" y="492826"/>
                </a:cubicBezTo>
                <a:cubicBezTo>
                  <a:pt x="973777" y="863385"/>
                  <a:pt x="673380" y="1163782"/>
                  <a:pt x="302821" y="1163782"/>
                </a:cubicBezTo>
                <a:cubicBezTo>
                  <a:pt x="210181" y="1163782"/>
                  <a:pt x="121927" y="1145007"/>
                  <a:pt x="41655" y="1111055"/>
                </a:cubicBezTo>
                <a:lnTo>
                  <a:pt x="0" y="1088445"/>
                </a:lnTo>
                <a:lnTo>
                  <a:pt x="0"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1" name="Google Shape;131;p16"/>
          <p:cNvSpPr/>
          <p:nvPr/>
        </p:nvSpPr>
        <p:spPr>
          <a:xfrm rot="-5400000">
            <a:off x="11100412" y="5766412"/>
            <a:ext cx="1086593" cy="1096583"/>
          </a:xfrm>
          <a:custGeom>
            <a:avLst/>
            <a:gdLst/>
            <a:ahLst/>
            <a:cxnLst/>
            <a:rect l="l" t="t" r="r" b="b"/>
            <a:pathLst>
              <a:path w="1086593" h="1096583" extrusionOk="0">
                <a:moveTo>
                  <a:pt x="1086593" y="670956"/>
                </a:moveTo>
                <a:cubicBezTo>
                  <a:pt x="1086593" y="809916"/>
                  <a:pt x="1044350" y="939009"/>
                  <a:pt x="972004" y="1046094"/>
                </a:cubicBezTo>
                <a:lnTo>
                  <a:pt x="930348" y="1096583"/>
                </a:lnTo>
                <a:lnTo>
                  <a:pt x="0" y="1096583"/>
                </a:lnTo>
                <a:lnTo>
                  <a:pt x="0" y="148003"/>
                </a:lnTo>
                <a:lnTo>
                  <a:pt x="40499" y="114589"/>
                </a:lnTo>
                <a:cubicBezTo>
                  <a:pt x="147585" y="42243"/>
                  <a:pt x="276678" y="0"/>
                  <a:pt x="415637" y="0"/>
                </a:cubicBezTo>
                <a:cubicBezTo>
                  <a:pt x="786196" y="0"/>
                  <a:pt x="1086593" y="300397"/>
                  <a:pt x="1086593" y="670956"/>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3" name="Google Shape;133;p16"/>
          <p:cNvSpPr/>
          <p:nvPr/>
        </p:nvSpPr>
        <p:spPr>
          <a:xfrm>
            <a:off x="6024562" y="147474"/>
            <a:ext cx="5929354" cy="5996169"/>
          </a:xfrm>
          <a:prstGeom prst="roundRect">
            <a:avLst>
              <a:gd name="adj" fmla="val 16667"/>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lvl="0"/>
            <a:r>
              <a:rPr lang="en-US" sz="2800" dirty="0" smtClean="0"/>
              <a:t>Correlation between Likes and Rating</a:t>
            </a:r>
            <a:r>
              <a:rPr lang="en-US" sz="1800" b="1" dirty="0" smtClean="0"/>
              <a:t>  </a:t>
            </a:r>
          </a:p>
          <a:p>
            <a:pPr lvl="0"/>
            <a:r>
              <a:rPr lang="en-US" sz="1800" b="1" i="1" dirty="0" smtClean="0"/>
              <a:t> </a:t>
            </a:r>
          </a:p>
          <a:p>
            <a:pPr marL="457200" lvl="0" indent="-457200">
              <a:buAutoNum type="arabicPeriod"/>
            </a:pPr>
            <a:r>
              <a:rPr lang="en-US" sz="2000" b="1" i="1" dirty="0" smtClean="0">
                <a:latin typeface="Calibri" pitchFamily="34" charset="0"/>
                <a:ea typeface="Calibri" pitchFamily="34" charset="0"/>
                <a:cs typeface="Calibri" pitchFamily="34" charset="0"/>
              </a:rPr>
              <a:t>Correlation </a:t>
            </a:r>
            <a:r>
              <a:rPr lang="en-US" sz="2000" b="1" i="1" dirty="0" smtClean="0">
                <a:latin typeface="Calibri" pitchFamily="34" charset="0"/>
                <a:ea typeface="Calibri" pitchFamily="34" charset="0"/>
                <a:cs typeface="Calibri" pitchFamily="34" charset="0"/>
              </a:rPr>
              <a:t>Coefficient 0.8425 </a:t>
            </a:r>
            <a:endParaRPr lang="en-US" sz="2000" b="1" i="1" dirty="0" smtClean="0">
              <a:latin typeface="Calibri" pitchFamily="34" charset="0"/>
              <a:ea typeface="Calibri" pitchFamily="34" charset="0"/>
              <a:cs typeface="Calibri" pitchFamily="34" charset="0"/>
            </a:endParaRPr>
          </a:p>
          <a:p>
            <a:pPr marL="457200" lvl="0" indent="-457200">
              <a:buAutoNum type="arabicPeriod"/>
            </a:pPr>
            <a:endParaRPr lang="en-US" sz="2000" b="1" i="1" dirty="0" smtClean="0">
              <a:solidFill>
                <a:schemeClr val="dk1"/>
              </a:solidFill>
              <a:latin typeface="Calibri" pitchFamily="34" charset="0"/>
              <a:ea typeface="Calibri" pitchFamily="34" charset="0"/>
              <a:cs typeface="Calibri" pitchFamily="34" charset="0"/>
            </a:endParaRPr>
          </a:p>
          <a:p>
            <a:pPr marL="457200" lvl="0" indent="-457200">
              <a:buAutoNum type="arabicPeriod"/>
            </a:pPr>
            <a:r>
              <a:rPr lang="en-US" sz="2000" b="1" dirty="0" smtClean="0">
                <a:latin typeface="Calibri" pitchFamily="34" charset="0"/>
                <a:ea typeface="Calibri" pitchFamily="34" charset="0"/>
                <a:cs typeface="Calibri" pitchFamily="34" charset="0"/>
              </a:rPr>
              <a:t>Analysis A correlation coefficient of 0.8425 indicates a strong positive correlation between likes and ratings, suggesting that higher likes tend to accompany higher </a:t>
            </a:r>
            <a:r>
              <a:rPr lang="en-US" sz="2000" b="1" dirty="0" smtClean="0">
                <a:latin typeface="Calibri" pitchFamily="34" charset="0"/>
                <a:ea typeface="Calibri" pitchFamily="34" charset="0"/>
                <a:cs typeface="Calibri" pitchFamily="34" charset="0"/>
              </a:rPr>
              <a:t>ratings.</a:t>
            </a:r>
          </a:p>
          <a:p>
            <a:pPr marL="457200" lvl="0" indent="-457200">
              <a:buAutoNum type="arabicPeriod"/>
            </a:pPr>
            <a:endParaRPr lang="en-US" sz="2000" b="1" i="1" dirty="0" smtClean="0">
              <a:solidFill>
                <a:schemeClr val="dk1"/>
              </a:solidFill>
              <a:latin typeface="Calibri" pitchFamily="34" charset="0"/>
              <a:ea typeface="Calibri" pitchFamily="34" charset="0"/>
              <a:cs typeface="Calibri" pitchFamily="34" charset="0"/>
            </a:endParaRPr>
          </a:p>
          <a:p>
            <a:pPr marL="457200" lvl="0" indent="-457200">
              <a:buAutoNum type="arabicPeriod"/>
            </a:pPr>
            <a:r>
              <a:rPr lang="en-US" sz="2000" b="1" dirty="0" smtClean="0">
                <a:latin typeface="Calibri" pitchFamily="34" charset="0"/>
                <a:ea typeface="Calibri" pitchFamily="34" charset="0"/>
                <a:cs typeface="Calibri" pitchFamily="34" charset="0"/>
              </a:rPr>
              <a:t>Conclusion This strong correlation implies that user satisfaction and engagement (likes) are closely related</a:t>
            </a:r>
            <a:endParaRPr sz="2000" b="1" i="1" smtClean="0">
              <a:solidFill>
                <a:schemeClr val="dk1"/>
              </a:solidFill>
              <a:latin typeface="Calibri" pitchFamily="34" charset="0"/>
              <a:ea typeface="Calibri" pitchFamily="34" charset="0"/>
              <a:cs typeface="Calibri" pitchFamily="34" charset="0"/>
            </a:endParaRPr>
          </a:p>
          <a:p>
            <a:pPr marL="0" lvl="0" indent="0" algn="ctr" rtl="0">
              <a:spcBef>
                <a:spcPts val="1200"/>
              </a:spcBef>
              <a:spcAft>
                <a:spcPts val="0"/>
              </a:spcAft>
              <a:buNone/>
            </a:pPr>
            <a:endParaRPr sz="2600" b="1">
              <a:solidFill>
                <a:schemeClr val="dk1"/>
              </a:solidFill>
            </a:endParaRPr>
          </a:p>
        </p:txBody>
      </p:sp>
      <p:sp>
        <p:nvSpPr>
          <p:cNvPr id="134" name="Google Shape;134;p16"/>
          <p:cNvSpPr/>
          <p:nvPr/>
        </p:nvSpPr>
        <p:spPr>
          <a:xfrm>
            <a:off x="666712" y="1571612"/>
            <a:ext cx="5072098" cy="4714908"/>
          </a:xfrm>
          <a:prstGeom prst="roundRect">
            <a:avLst>
              <a:gd name="adj" fmla="val 16667"/>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lgn="ctr"/>
            <a:r>
              <a:rPr lang="en-US" sz="2400" b="1" dirty="0" smtClean="0"/>
              <a:t> </a:t>
            </a:r>
            <a:endParaRPr sz="2000">
              <a:latin typeface="Calibri"/>
              <a:ea typeface="Calibri"/>
              <a:cs typeface="Calibri"/>
              <a:sym typeface="Calibri"/>
            </a:endParaRPr>
          </a:p>
        </p:txBody>
      </p:sp>
      <p:pic>
        <p:nvPicPr>
          <p:cNvPr id="7" name="Picture 8" descr="Free Apple Logo Transparent Background, Download Free Apple Logo ..."/>
          <p:cNvPicPr>
            <a:picLocks noChangeAspect="1" noChangeArrowheads="1"/>
          </p:cNvPicPr>
          <p:nvPr/>
        </p:nvPicPr>
        <p:blipFill>
          <a:blip r:embed="rId3"/>
          <a:srcRect/>
          <a:stretch>
            <a:fillRect/>
          </a:stretch>
        </p:blipFill>
        <p:spPr bwMode="auto">
          <a:xfrm>
            <a:off x="0" y="0"/>
            <a:ext cx="1452529" cy="1452529"/>
          </a:xfrm>
          <a:prstGeom prst="rect">
            <a:avLst/>
          </a:prstGeom>
          <a:noFill/>
        </p:spPr>
      </p:pic>
      <p:pic>
        <p:nvPicPr>
          <p:cNvPr id="53250" name="Picture 2"/>
          <p:cNvPicPr>
            <a:picLocks noChangeAspect="1" noChangeArrowheads="1"/>
          </p:cNvPicPr>
          <p:nvPr/>
        </p:nvPicPr>
        <p:blipFill>
          <a:blip r:embed="rId4"/>
          <a:srcRect/>
          <a:stretch>
            <a:fillRect/>
          </a:stretch>
        </p:blipFill>
        <p:spPr bwMode="auto">
          <a:xfrm>
            <a:off x="881027" y="1928802"/>
            <a:ext cx="4500594" cy="4071966"/>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6"/>
          <p:cNvSpPr/>
          <p:nvPr/>
        </p:nvSpPr>
        <p:spPr>
          <a:xfrm>
            <a:off x="1" y="0"/>
            <a:ext cx="973777" cy="1163782"/>
          </a:xfrm>
          <a:custGeom>
            <a:avLst/>
            <a:gdLst/>
            <a:ahLst/>
            <a:cxnLst/>
            <a:rect l="l" t="t" r="r" b="b"/>
            <a:pathLst>
              <a:path w="973777" h="1163782" extrusionOk="0">
                <a:moveTo>
                  <a:pt x="0" y="0"/>
                </a:moveTo>
                <a:lnTo>
                  <a:pt x="754972" y="0"/>
                </a:lnTo>
                <a:lnTo>
                  <a:pt x="777259" y="18388"/>
                </a:lnTo>
                <a:cubicBezTo>
                  <a:pt x="898678" y="139808"/>
                  <a:pt x="973777" y="307547"/>
                  <a:pt x="973777" y="492826"/>
                </a:cubicBezTo>
                <a:cubicBezTo>
                  <a:pt x="973777" y="863385"/>
                  <a:pt x="673380" y="1163782"/>
                  <a:pt x="302821" y="1163782"/>
                </a:cubicBezTo>
                <a:cubicBezTo>
                  <a:pt x="210181" y="1163782"/>
                  <a:pt x="121927" y="1145007"/>
                  <a:pt x="41655" y="1111055"/>
                </a:cubicBezTo>
                <a:lnTo>
                  <a:pt x="0" y="1088445"/>
                </a:lnTo>
                <a:lnTo>
                  <a:pt x="0"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1" name="Google Shape;131;p16"/>
          <p:cNvSpPr/>
          <p:nvPr/>
        </p:nvSpPr>
        <p:spPr>
          <a:xfrm rot="-5400000">
            <a:off x="11100412" y="5766412"/>
            <a:ext cx="1086593" cy="1096583"/>
          </a:xfrm>
          <a:custGeom>
            <a:avLst/>
            <a:gdLst/>
            <a:ahLst/>
            <a:cxnLst/>
            <a:rect l="l" t="t" r="r" b="b"/>
            <a:pathLst>
              <a:path w="1086593" h="1096583" extrusionOk="0">
                <a:moveTo>
                  <a:pt x="1086593" y="670956"/>
                </a:moveTo>
                <a:cubicBezTo>
                  <a:pt x="1086593" y="809916"/>
                  <a:pt x="1044350" y="939009"/>
                  <a:pt x="972004" y="1046094"/>
                </a:cubicBezTo>
                <a:lnTo>
                  <a:pt x="930348" y="1096583"/>
                </a:lnTo>
                <a:lnTo>
                  <a:pt x="0" y="1096583"/>
                </a:lnTo>
                <a:lnTo>
                  <a:pt x="0" y="148003"/>
                </a:lnTo>
                <a:lnTo>
                  <a:pt x="40499" y="114589"/>
                </a:lnTo>
                <a:cubicBezTo>
                  <a:pt x="147585" y="42243"/>
                  <a:pt x="276678" y="0"/>
                  <a:pt x="415637" y="0"/>
                </a:cubicBezTo>
                <a:cubicBezTo>
                  <a:pt x="786196" y="0"/>
                  <a:pt x="1086593" y="300397"/>
                  <a:pt x="1086593" y="670956"/>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3" name="Google Shape;133;p16"/>
          <p:cNvSpPr/>
          <p:nvPr/>
        </p:nvSpPr>
        <p:spPr>
          <a:xfrm>
            <a:off x="5881686" y="1"/>
            <a:ext cx="5572164" cy="6215082"/>
          </a:xfrm>
          <a:prstGeom prst="roundRect">
            <a:avLst>
              <a:gd name="adj" fmla="val 16667"/>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lvl="0"/>
            <a:r>
              <a:rPr lang="en-US" sz="2800" dirty="0" smtClean="0"/>
              <a:t>Distribution of App </a:t>
            </a:r>
            <a:r>
              <a:rPr lang="en-US" sz="2800" dirty="0" smtClean="0"/>
              <a:t>Ratings</a:t>
            </a:r>
          </a:p>
          <a:p>
            <a:pPr lvl="0"/>
            <a:r>
              <a:rPr lang="en-US" sz="1800" b="1" i="1" dirty="0" smtClean="0"/>
              <a:t> </a:t>
            </a:r>
          </a:p>
          <a:p>
            <a:pPr marL="457200" lvl="0" indent="-457200">
              <a:buAutoNum type="arabicPeriod"/>
            </a:pPr>
            <a:r>
              <a:rPr lang="en-US" sz="2000" b="1" i="1" dirty="0" smtClean="0">
                <a:latin typeface="Calibri" pitchFamily="34" charset="0"/>
                <a:ea typeface="Calibri" pitchFamily="34" charset="0"/>
                <a:cs typeface="Calibri" pitchFamily="34" charset="0"/>
              </a:rPr>
              <a:t> </a:t>
            </a:r>
            <a:r>
              <a:rPr lang="en-US" sz="2000" dirty="0" err="1" smtClean="0"/>
              <a:t>Skewness</a:t>
            </a:r>
            <a:r>
              <a:rPr lang="en-US" sz="2000" dirty="0" smtClean="0"/>
              <a:t> </a:t>
            </a:r>
            <a:r>
              <a:rPr lang="en-US" sz="2000" dirty="0" smtClean="0"/>
              <a:t>(assumed based on visual analysis) </a:t>
            </a:r>
            <a:endParaRPr lang="en-US" sz="2000" dirty="0" smtClean="0"/>
          </a:p>
          <a:p>
            <a:pPr marL="457200" lvl="0" indent="-457200">
              <a:buAutoNum type="arabicPeriod"/>
            </a:pPr>
            <a:endParaRPr lang="en-US" sz="2000" dirty="0" smtClean="0"/>
          </a:p>
          <a:p>
            <a:pPr marL="457200" lvl="0" indent="-457200">
              <a:buAutoNum type="arabicPeriod"/>
            </a:pPr>
            <a:r>
              <a:rPr lang="en-US" sz="2000" dirty="0" smtClean="0"/>
              <a:t>Analysis If the distribution is positively skewed, this indicates that a majority of users rated the app lower, with a few high ratings pulling the average up. Conversely, a negatively skewed distribution would suggest most users rated the app higher</a:t>
            </a:r>
            <a:r>
              <a:rPr lang="en-US" sz="2000" dirty="0" smtClean="0"/>
              <a:t>.</a:t>
            </a:r>
          </a:p>
          <a:p>
            <a:pPr marL="457200" lvl="0" indent="-457200">
              <a:buAutoNum type="arabicPeriod"/>
            </a:pPr>
            <a:endParaRPr lang="en-US" sz="2000" dirty="0" smtClean="0"/>
          </a:p>
          <a:p>
            <a:pPr marL="457200" lvl="0" indent="-457200">
              <a:buAutoNum type="arabicPeriod"/>
            </a:pPr>
            <a:r>
              <a:rPr lang="en-US" sz="2000" dirty="0" smtClean="0"/>
              <a:t>Conclusion A positively skewed distribution may suggest overall dissatisfaction, while a negatively skewed distribution would imply user satisfaction.</a:t>
            </a:r>
            <a:endParaRPr lang="en-US" sz="2000" dirty="0" smtClean="0"/>
          </a:p>
          <a:p>
            <a:pPr marL="457200" lvl="0" indent="-457200"/>
            <a:endParaRPr lang="en-US" sz="2000" dirty="0" smtClean="0"/>
          </a:p>
          <a:p>
            <a:pPr marL="457200" lvl="0" indent="-457200"/>
            <a:endParaRPr lang="en-US" sz="2000" b="1" i="1" dirty="0" smtClean="0">
              <a:solidFill>
                <a:schemeClr val="dk1"/>
              </a:solidFill>
              <a:latin typeface="Calibri" pitchFamily="34" charset="0"/>
              <a:ea typeface="Calibri" pitchFamily="34" charset="0"/>
              <a:cs typeface="Calibri" pitchFamily="34" charset="0"/>
            </a:endParaRPr>
          </a:p>
          <a:p>
            <a:pPr marL="457200" lvl="0" indent="-457200"/>
            <a:endParaRPr sz="2000" b="1" i="1" smtClean="0">
              <a:solidFill>
                <a:schemeClr val="dk1"/>
              </a:solidFill>
              <a:latin typeface="Calibri" pitchFamily="34" charset="0"/>
              <a:ea typeface="Calibri" pitchFamily="34" charset="0"/>
              <a:cs typeface="Calibri" pitchFamily="34" charset="0"/>
            </a:endParaRPr>
          </a:p>
          <a:p>
            <a:pPr marL="0" lvl="0" indent="0" algn="ctr" rtl="0">
              <a:spcBef>
                <a:spcPts val="1200"/>
              </a:spcBef>
              <a:spcAft>
                <a:spcPts val="0"/>
              </a:spcAft>
              <a:buNone/>
            </a:pPr>
            <a:endParaRPr sz="2600" b="1">
              <a:solidFill>
                <a:schemeClr val="dk1"/>
              </a:solidFill>
            </a:endParaRPr>
          </a:p>
        </p:txBody>
      </p:sp>
      <p:sp>
        <p:nvSpPr>
          <p:cNvPr id="134" name="Google Shape;134;p16"/>
          <p:cNvSpPr/>
          <p:nvPr/>
        </p:nvSpPr>
        <p:spPr>
          <a:xfrm>
            <a:off x="666712" y="1500174"/>
            <a:ext cx="5072098" cy="4786346"/>
          </a:xfrm>
          <a:prstGeom prst="roundRect">
            <a:avLst>
              <a:gd name="adj" fmla="val 16667"/>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lgn="ctr"/>
            <a:r>
              <a:rPr lang="en-US" sz="2400" b="1" dirty="0" smtClean="0"/>
              <a:t> </a:t>
            </a:r>
            <a:endParaRPr sz="2000">
              <a:latin typeface="Calibri"/>
              <a:ea typeface="Calibri"/>
              <a:cs typeface="Calibri"/>
              <a:sym typeface="Calibri"/>
            </a:endParaRPr>
          </a:p>
        </p:txBody>
      </p:sp>
      <p:pic>
        <p:nvPicPr>
          <p:cNvPr id="7" name="Picture 8" descr="Free Apple Logo Transparent Background, Download Free Apple Logo ..."/>
          <p:cNvPicPr>
            <a:picLocks noChangeAspect="1" noChangeArrowheads="1"/>
          </p:cNvPicPr>
          <p:nvPr/>
        </p:nvPicPr>
        <p:blipFill>
          <a:blip r:embed="rId3"/>
          <a:srcRect/>
          <a:stretch>
            <a:fillRect/>
          </a:stretch>
        </p:blipFill>
        <p:spPr bwMode="auto">
          <a:xfrm>
            <a:off x="0" y="0"/>
            <a:ext cx="1452529" cy="1452529"/>
          </a:xfrm>
          <a:prstGeom prst="rect">
            <a:avLst/>
          </a:prstGeom>
          <a:noFill/>
        </p:spPr>
      </p:pic>
      <p:pic>
        <p:nvPicPr>
          <p:cNvPr id="55298" name="Picture 2"/>
          <p:cNvPicPr>
            <a:picLocks noChangeAspect="1" noChangeArrowheads="1"/>
          </p:cNvPicPr>
          <p:nvPr/>
        </p:nvPicPr>
        <p:blipFill>
          <a:blip r:embed="rId4"/>
          <a:srcRect/>
          <a:stretch>
            <a:fillRect/>
          </a:stretch>
        </p:blipFill>
        <p:spPr bwMode="auto">
          <a:xfrm>
            <a:off x="881026" y="1928803"/>
            <a:ext cx="4714907" cy="4000528"/>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6"/>
          <p:cNvSpPr/>
          <p:nvPr/>
        </p:nvSpPr>
        <p:spPr>
          <a:xfrm>
            <a:off x="1" y="0"/>
            <a:ext cx="973777" cy="1163782"/>
          </a:xfrm>
          <a:custGeom>
            <a:avLst/>
            <a:gdLst/>
            <a:ahLst/>
            <a:cxnLst/>
            <a:rect l="l" t="t" r="r" b="b"/>
            <a:pathLst>
              <a:path w="973777" h="1163782" extrusionOk="0">
                <a:moveTo>
                  <a:pt x="0" y="0"/>
                </a:moveTo>
                <a:lnTo>
                  <a:pt x="754972" y="0"/>
                </a:lnTo>
                <a:lnTo>
                  <a:pt x="777259" y="18388"/>
                </a:lnTo>
                <a:cubicBezTo>
                  <a:pt x="898678" y="139808"/>
                  <a:pt x="973777" y="307547"/>
                  <a:pt x="973777" y="492826"/>
                </a:cubicBezTo>
                <a:cubicBezTo>
                  <a:pt x="973777" y="863385"/>
                  <a:pt x="673380" y="1163782"/>
                  <a:pt x="302821" y="1163782"/>
                </a:cubicBezTo>
                <a:cubicBezTo>
                  <a:pt x="210181" y="1163782"/>
                  <a:pt x="121927" y="1145007"/>
                  <a:pt x="41655" y="1111055"/>
                </a:cubicBezTo>
                <a:lnTo>
                  <a:pt x="0" y="1088445"/>
                </a:lnTo>
                <a:lnTo>
                  <a:pt x="0"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1" name="Google Shape;131;p16"/>
          <p:cNvSpPr/>
          <p:nvPr/>
        </p:nvSpPr>
        <p:spPr>
          <a:xfrm rot="-5400000">
            <a:off x="11100412" y="5766412"/>
            <a:ext cx="1086593" cy="1096583"/>
          </a:xfrm>
          <a:custGeom>
            <a:avLst/>
            <a:gdLst/>
            <a:ahLst/>
            <a:cxnLst/>
            <a:rect l="l" t="t" r="r" b="b"/>
            <a:pathLst>
              <a:path w="1086593" h="1096583" extrusionOk="0">
                <a:moveTo>
                  <a:pt x="1086593" y="670956"/>
                </a:moveTo>
                <a:cubicBezTo>
                  <a:pt x="1086593" y="809916"/>
                  <a:pt x="1044350" y="939009"/>
                  <a:pt x="972004" y="1046094"/>
                </a:cubicBezTo>
                <a:lnTo>
                  <a:pt x="930348" y="1096583"/>
                </a:lnTo>
                <a:lnTo>
                  <a:pt x="0" y="1096583"/>
                </a:lnTo>
                <a:lnTo>
                  <a:pt x="0" y="148003"/>
                </a:lnTo>
                <a:lnTo>
                  <a:pt x="40499" y="114589"/>
                </a:lnTo>
                <a:cubicBezTo>
                  <a:pt x="147585" y="42243"/>
                  <a:pt x="276678" y="0"/>
                  <a:pt x="415637" y="0"/>
                </a:cubicBezTo>
                <a:cubicBezTo>
                  <a:pt x="786196" y="0"/>
                  <a:pt x="1086593" y="300397"/>
                  <a:pt x="1086593" y="670956"/>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3" name="Google Shape;133;p16"/>
          <p:cNvSpPr/>
          <p:nvPr/>
        </p:nvSpPr>
        <p:spPr>
          <a:xfrm>
            <a:off x="5881686" y="1"/>
            <a:ext cx="5572164" cy="6215082"/>
          </a:xfrm>
          <a:prstGeom prst="roundRect">
            <a:avLst>
              <a:gd name="adj" fmla="val 16667"/>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lvl="0"/>
            <a:r>
              <a:rPr lang="en-US" sz="2800" dirty="0" smtClean="0"/>
              <a:t>Sampling Distribution and Central Limit Theorem</a:t>
            </a:r>
            <a:r>
              <a:rPr lang="en-US" sz="1800" b="1" i="1" dirty="0" smtClean="0"/>
              <a:t> </a:t>
            </a:r>
          </a:p>
          <a:p>
            <a:pPr marL="457200" lvl="0" indent="-457200"/>
            <a:endParaRPr lang="en-US" sz="2000" b="1" i="1" dirty="0" smtClean="0">
              <a:latin typeface="Calibri" pitchFamily="34" charset="0"/>
              <a:ea typeface="Calibri" pitchFamily="34" charset="0"/>
              <a:cs typeface="Calibri" pitchFamily="34" charset="0"/>
            </a:endParaRPr>
          </a:p>
          <a:p>
            <a:pPr marL="457200" lvl="0" indent="-457200"/>
            <a:r>
              <a:rPr lang="en-US" sz="2000" b="1" dirty="0" smtClean="0"/>
              <a:t>Sampling Distribution</a:t>
            </a:r>
            <a:r>
              <a:rPr lang="en-US" sz="2000" dirty="0" smtClean="0"/>
              <a:t>: The histogram of sample means demonstrates an approximately normal </a:t>
            </a:r>
            <a:r>
              <a:rPr lang="en-US" sz="2000" dirty="0" smtClean="0"/>
              <a:t>distribution.</a:t>
            </a:r>
          </a:p>
          <a:p>
            <a:pPr marL="457200" lvl="0" indent="-457200"/>
            <a:endParaRPr lang="en-US" sz="2000" dirty="0" smtClean="0"/>
          </a:p>
          <a:p>
            <a:pPr marL="457200" lvl="0" indent="-457200"/>
            <a:r>
              <a:rPr lang="en-US" sz="2000" b="1" dirty="0" smtClean="0"/>
              <a:t>Analysis: </a:t>
            </a:r>
            <a:r>
              <a:rPr lang="en-US" sz="2000" dirty="0" smtClean="0"/>
              <a:t>The Central Limit Theorem (CLT) states that the sampling distribution of the sample mean will be normally distributed if the sample size is sufficiently large (n ≥ 30</a:t>
            </a:r>
            <a:r>
              <a:rPr lang="en-US" sz="2000" dirty="0" smtClean="0"/>
              <a:t>).</a:t>
            </a:r>
          </a:p>
          <a:p>
            <a:pPr marL="457200" lvl="0" indent="-457200"/>
            <a:endParaRPr lang="en-US" sz="2000" dirty="0" smtClean="0"/>
          </a:p>
          <a:p>
            <a:pPr marL="457200" lvl="0" indent="-457200"/>
            <a:r>
              <a:rPr lang="en-US" sz="2000" dirty="0" smtClean="0"/>
              <a:t>In this case, the histogram shows a clear normal shape, validating the application of the CLT</a:t>
            </a:r>
            <a:endParaRPr lang="en-US" sz="2000" dirty="0" smtClean="0"/>
          </a:p>
          <a:p>
            <a:pPr marL="457200" lvl="0" indent="-457200"/>
            <a:endParaRPr lang="en-US" sz="2000" dirty="0" smtClean="0"/>
          </a:p>
          <a:p>
            <a:pPr marL="457200" lvl="0" indent="-457200"/>
            <a:endParaRPr lang="en-US" sz="2000" b="1" i="1" dirty="0" smtClean="0">
              <a:solidFill>
                <a:schemeClr val="dk1"/>
              </a:solidFill>
              <a:latin typeface="Calibri" pitchFamily="34" charset="0"/>
              <a:ea typeface="Calibri" pitchFamily="34" charset="0"/>
              <a:cs typeface="Calibri" pitchFamily="34" charset="0"/>
            </a:endParaRPr>
          </a:p>
          <a:p>
            <a:pPr marL="457200" lvl="0" indent="-457200"/>
            <a:endParaRPr sz="2000" b="1" i="1" smtClean="0">
              <a:solidFill>
                <a:schemeClr val="dk1"/>
              </a:solidFill>
              <a:latin typeface="Calibri" pitchFamily="34" charset="0"/>
              <a:ea typeface="Calibri" pitchFamily="34" charset="0"/>
              <a:cs typeface="Calibri" pitchFamily="34" charset="0"/>
            </a:endParaRPr>
          </a:p>
          <a:p>
            <a:pPr marL="0" lvl="0" indent="0" algn="ctr" rtl="0">
              <a:spcBef>
                <a:spcPts val="1200"/>
              </a:spcBef>
              <a:spcAft>
                <a:spcPts val="0"/>
              </a:spcAft>
              <a:buNone/>
            </a:pPr>
            <a:endParaRPr sz="2600" b="1">
              <a:solidFill>
                <a:schemeClr val="dk1"/>
              </a:solidFill>
            </a:endParaRPr>
          </a:p>
        </p:txBody>
      </p:sp>
      <p:sp>
        <p:nvSpPr>
          <p:cNvPr id="134" name="Google Shape;134;p16"/>
          <p:cNvSpPr/>
          <p:nvPr/>
        </p:nvSpPr>
        <p:spPr>
          <a:xfrm>
            <a:off x="380960" y="1500174"/>
            <a:ext cx="5429288" cy="4857784"/>
          </a:xfrm>
          <a:prstGeom prst="roundRect">
            <a:avLst>
              <a:gd name="adj" fmla="val 16667"/>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lgn="ctr"/>
            <a:r>
              <a:rPr lang="en-US" sz="2400" b="1" dirty="0" smtClean="0"/>
              <a:t> </a:t>
            </a:r>
            <a:endParaRPr sz="2000">
              <a:latin typeface="Calibri"/>
              <a:ea typeface="Calibri"/>
              <a:cs typeface="Calibri"/>
              <a:sym typeface="Calibri"/>
            </a:endParaRPr>
          </a:p>
        </p:txBody>
      </p:sp>
      <p:pic>
        <p:nvPicPr>
          <p:cNvPr id="7" name="Picture 8" descr="Free Apple Logo Transparent Background, Download Free Apple Logo ..."/>
          <p:cNvPicPr>
            <a:picLocks noChangeAspect="1" noChangeArrowheads="1"/>
          </p:cNvPicPr>
          <p:nvPr/>
        </p:nvPicPr>
        <p:blipFill>
          <a:blip r:embed="rId3"/>
          <a:srcRect/>
          <a:stretch>
            <a:fillRect/>
          </a:stretch>
        </p:blipFill>
        <p:spPr bwMode="auto">
          <a:xfrm>
            <a:off x="0" y="0"/>
            <a:ext cx="1452529" cy="1452529"/>
          </a:xfrm>
          <a:prstGeom prst="rect">
            <a:avLst/>
          </a:prstGeom>
          <a:noFill/>
        </p:spPr>
      </p:pic>
      <p:pic>
        <p:nvPicPr>
          <p:cNvPr id="56322" name="Picture 2"/>
          <p:cNvPicPr>
            <a:picLocks noChangeAspect="1" noChangeArrowheads="1"/>
          </p:cNvPicPr>
          <p:nvPr/>
        </p:nvPicPr>
        <p:blipFill>
          <a:blip r:embed="rId4"/>
          <a:srcRect/>
          <a:stretch>
            <a:fillRect/>
          </a:stretch>
        </p:blipFill>
        <p:spPr bwMode="auto">
          <a:xfrm>
            <a:off x="595274" y="1643050"/>
            <a:ext cx="5000660" cy="4429155"/>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6"/>
          <p:cNvSpPr/>
          <p:nvPr/>
        </p:nvSpPr>
        <p:spPr>
          <a:xfrm>
            <a:off x="1" y="0"/>
            <a:ext cx="973777" cy="1163782"/>
          </a:xfrm>
          <a:custGeom>
            <a:avLst/>
            <a:gdLst/>
            <a:ahLst/>
            <a:cxnLst/>
            <a:rect l="l" t="t" r="r" b="b"/>
            <a:pathLst>
              <a:path w="973777" h="1163782" extrusionOk="0">
                <a:moveTo>
                  <a:pt x="0" y="0"/>
                </a:moveTo>
                <a:lnTo>
                  <a:pt x="754972" y="0"/>
                </a:lnTo>
                <a:lnTo>
                  <a:pt x="777259" y="18388"/>
                </a:lnTo>
                <a:cubicBezTo>
                  <a:pt x="898678" y="139808"/>
                  <a:pt x="973777" y="307547"/>
                  <a:pt x="973777" y="492826"/>
                </a:cubicBezTo>
                <a:cubicBezTo>
                  <a:pt x="973777" y="863385"/>
                  <a:pt x="673380" y="1163782"/>
                  <a:pt x="302821" y="1163782"/>
                </a:cubicBezTo>
                <a:cubicBezTo>
                  <a:pt x="210181" y="1163782"/>
                  <a:pt x="121927" y="1145007"/>
                  <a:pt x="41655" y="1111055"/>
                </a:cubicBezTo>
                <a:lnTo>
                  <a:pt x="0" y="1088445"/>
                </a:lnTo>
                <a:lnTo>
                  <a:pt x="0"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1" name="Google Shape;131;p16"/>
          <p:cNvSpPr/>
          <p:nvPr/>
        </p:nvSpPr>
        <p:spPr>
          <a:xfrm rot="-5400000">
            <a:off x="11100412" y="5766412"/>
            <a:ext cx="1086593" cy="1096583"/>
          </a:xfrm>
          <a:custGeom>
            <a:avLst/>
            <a:gdLst/>
            <a:ahLst/>
            <a:cxnLst/>
            <a:rect l="l" t="t" r="r" b="b"/>
            <a:pathLst>
              <a:path w="1086593" h="1096583" extrusionOk="0">
                <a:moveTo>
                  <a:pt x="1086593" y="670956"/>
                </a:moveTo>
                <a:cubicBezTo>
                  <a:pt x="1086593" y="809916"/>
                  <a:pt x="1044350" y="939009"/>
                  <a:pt x="972004" y="1046094"/>
                </a:cubicBezTo>
                <a:lnTo>
                  <a:pt x="930348" y="1096583"/>
                </a:lnTo>
                <a:lnTo>
                  <a:pt x="0" y="1096583"/>
                </a:lnTo>
                <a:lnTo>
                  <a:pt x="0" y="148003"/>
                </a:lnTo>
                <a:lnTo>
                  <a:pt x="40499" y="114589"/>
                </a:lnTo>
                <a:cubicBezTo>
                  <a:pt x="147585" y="42243"/>
                  <a:pt x="276678" y="0"/>
                  <a:pt x="415637" y="0"/>
                </a:cubicBezTo>
                <a:cubicBezTo>
                  <a:pt x="786196" y="0"/>
                  <a:pt x="1086593" y="300397"/>
                  <a:pt x="1086593" y="670956"/>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3" name="Google Shape;133;p16"/>
          <p:cNvSpPr/>
          <p:nvPr/>
        </p:nvSpPr>
        <p:spPr>
          <a:xfrm>
            <a:off x="5881686" y="285727"/>
            <a:ext cx="5572164" cy="5929355"/>
          </a:xfrm>
          <a:prstGeom prst="roundRect">
            <a:avLst>
              <a:gd name="adj" fmla="val 16667"/>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lvl="0"/>
            <a:r>
              <a:rPr lang="en-US" sz="2000" dirty="0" smtClean="0"/>
              <a:t>Hypothesis </a:t>
            </a:r>
            <a:r>
              <a:rPr lang="en-US" sz="2000" dirty="0" smtClean="0"/>
              <a:t>Test for </a:t>
            </a:r>
            <a:r>
              <a:rPr lang="en-US" sz="2000" dirty="0" err="1" smtClean="0"/>
              <a:t>Instagram</a:t>
            </a:r>
            <a:r>
              <a:rPr lang="en-US" sz="2000" dirty="0" smtClean="0"/>
              <a:t> vs. </a:t>
            </a:r>
            <a:r>
              <a:rPr lang="en-US" sz="2000" dirty="0" smtClean="0"/>
              <a:t> </a:t>
            </a:r>
            <a:r>
              <a:rPr lang="en-US" sz="2000" dirty="0" err="1" smtClean="0"/>
              <a:t>WhatsApp</a:t>
            </a:r>
            <a:r>
              <a:rPr lang="en-US" sz="2000" dirty="0" smtClean="0"/>
              <a:t> Ratings:- </a:t>
            </a:r>
          </a:p>
          <a:p>
            <a:pPr lvl="0"/>
            <a:endParaRPr lang="en-US" sz="2000" b="1" dirty="0" smtClean="0">
              <a:solidFill>
                <a:schemeClr val="dk1"/>
              </a:solidFill>
            </a:endParaRPr>
          </a:p>
          <a:p>
            <a:pPr lvl="0"/>
            <a:r>
              <a:rPr lang="en-US" sz="2000" b="1" dirty="0" smtClean="0"/>
              <a:t>Hypothesis Testing Framework</a:t>
            </a:r>
            <a:r>
              <a:rPr lang="en-US" sz="2000" dirty="0" smtClean="0"/>
              <a:t>: Null Hypothesis (H₀</a:t>
            </a:r>
            <a:r>
              <a:rPr lang="en-US" sz="2000" dirty="0" smtClean="0"/>
              <a:t>)</a:t>
            </a:r>
          </a:p>
          <a:p>
            <a:pPr lvl="0"/>
            <a:endParaRPr lang="en-US" sz="2000" b="1" dirty="0" smtClean="0">
              <a:solidFill>
                <a:schemeClr val="dk1"/>
              </a:solidFill>
            </a:endParaRPr>
          </a:p>
          <a:p>
            <a:pPr lvl="0"/>
            <a:r>
              <a:rPr lang="en-US" sz="2000" dirty="0" smtClean="0"/>
              <a:t>The average rating for </a:t>
            </a:r>
            <a:r>
              <a:rPr lang="en-US" sz="2000" dirty="0" err="1" smtClean="0"/>
              <a:t>Instagram</a:t>
            </a:r>
            <a:r>
              <a:rPr lang="en-US" sz="2000" dirty="0" smtClean="0"/>
              <a:t> is equal to or less than the average rating for </a:t>
            </a:r>
            <a:r>
              <a:rPr lang="en-US" sz="2000" dirty="0" err="1" smtClean="0"/>
              <a:t>WhatsApp</a:t>
            </a:r>
            <a:r>
              <a:rPr lang="en-US" sz="2000" dirty="0" smtClean="0"/>
              <a:t>. H₀: </a:t>
            </a:r>
            <a:r>
              <a:rPr lang="en-US" sz="2000" dirty="0" err="1" smtClean="0"/>
              <a:t>μInstagram</a:t>
            </a:r>
            <a:r>
              <a:rPr lang="en-US" sz="2000" dirty="0" smtClean="0"/>
              <a:t> &lt;= μ </a:t>
            </a:r>
            <a:r>
              <a:rPr lang="en-US" sz="2000" dirty="0" err="1" smtClean="0"/>
              <a:t>Whatsap</a:t>
            </a:r>
            <a:endParaRPr lang="en-US" sz="2000" dirty="0" smtClean="0"/>
          </a:p>
          <a:p>
            <a:pPr lvl="0"/>
            <a:endParaRPr lang="en-US" sz="2000" b="1" dirty="0" smtClean="0">
              <a:solidFill>
                <a:schemeClr val="dk1"/>
              </a:solidFill>
            </a:endParaRPr>
          </a:p>
          <a:p>
            <a:pPr lvl="0"/>
            <a:endParaRPr lang="en-US" sz="2000" b="1" dirty="0" smtClean="0">
              <a:solidFill>
                <a:schemeClr val="dk1"/>
              </a:solidFill>
            </a:endParaRPr>
          </a:p>
          <a:p>
            <a:pPr lvl="0"/>
            <a:r>
              <a:rPr lang="en-US" sz="2000" b="1" dirty="0" smtClean="0"/>
              <a:t>Alternative Hypothesis (H₁): </a:t>
            </a:r>
            <a:r>
              <a:rPr lang="en-US" sz="2000" dirty="0" smtClean="0"/>
              <a:t>The average rating for </a:t>
            </a:r>
            <a:r>
              <a:rPr lang="en-US" sz="2000" dirty="0" err="1" smtClean="0"/>
              <a:t>Instagram</a:t>
            </a:r>
            <a:r>
              <a:rPr lang="en-US" sz="2000" dirty="0" smtClean="0"/>
              <a:t> is greater than the average rating for </a:t>
            </a:r>
            <a:r>
              <a:rPr lang="en-US" sz="2000" dirty="0" err="1" smtClean="0"/>
              <a:t>WhatsApp</a:t>
            </a:r>
            <a:r>
              <a:rPr lang="en-US" sz="2000" dirty="0" smtClean="0"/>
              <a:t>. H₁: </a:t>
            </a:r>
            <a:r>
              <a:rPr lang="en-US" sz="2000" dirty="0" err="1" smtClean="0"/>
              <a:t>μInstagram</a:t>
            </a:r>
            <a:r>
              <a:rPr lang="en-US" sz="2000" dirty="0" smtClean="0"/>
              <a:t> &gt; μ </a:t>
            </a:r>
            <a:r>
              <a:rPr lang="en-US" sz="2000" dirty="0" err="1" smtClean="0"/>
              <a:t>Whatsapp</a:t>
            </a:r>
            <a:r>
              <a:rPr lang="en-US" sz="2000" dirty="0" smtClean="0"/>
              <a:t> </a:t>
            </a:r>
            <a:endParaRPr sz="2000" b="1">
              <a:solidFill>
                <a:schemeClr val="dk1"/>
              </a:solidFill>
            </a:endParaRPr>
          </a:p>
        </p:txBody>
      </p:sp>
      <p:sp>
        <p:nvSpPr>
          <p:cNvPr id="134" name="Google Shape;134;p16"/>
          <p:cNvSpPr/>
          <p:nvPr/>
        </p:nvSpPr>
        <p:spPr>
          <a:xfrm>
            <a:off x="666712" y="1500174"/>
            <a:ext cx="5072098" cy="4786346"/>
          </a:xfrm>
          <a:prstGeom prst="roundRect">
            <a:avLst>
              <a:gd name="adj" fmla="val 16667"/>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lgn="ctr"/>
            <a:endParaRPr lang="en-US" sz="2400" dirty="0" smtClean="0"/>
          </a:p>
          <a:p>
            <a:pPr lvl="0" algn="ctr"/>
            <a:endParaRPr lang="en-US" sz="2400" dirty="0" smtClean="0"/>
          </a:p>
          <a:p>
            <a:pPr lvl="0" algn="ctr"/>
            <a:endParaRPr lang="en-US" sz="2400" dirty="0" smtClean="0"/>
          </a:p>
          <a:p>
            <a:pPr lvl="0" algn="ctr"/>
            <a:endParaRPr lang="en-US" sz="2400" dirty="0" smtClean="0"/>
          </a:p>
          <a:p>
            <a:pPr lvl="0" algn="ctr"/>
            <a:endParaRPr lang="en-US" sz="2400" dirty="0" smtClean="0"/>
          </a:p>
          <a:p>
            <a:pPr lvl="0" algn="ctr"/>
            <a:endParaRPr lang="en-US" sz="2400" dirty="0" smtClean="0"/>
          </a:p>
          <a:p>
            <a:pPr lvl="0" algn="ctr"/>
            <a:endParaRPr lang="en-US" sz="2400" dirty="0" smtClean="0"/>
          </a:p>
          <a:p>
            <a:pPr lvl="0" algn="ctr"/>
            <a:endParaRPr lang="en-US" sz="2400" dirty="0" smtClean="0"/>
          </a:p>
          <a:p>
            <a:pPr lvl="0" algn="ctr"/>
            <a:endParaRPr lang="en-US" sz="2400" dirty="0" smtClean="0"/>
          </a:p>
          <a:p>
            <a:pPr lvl="0" algn="ctr"/>
            <a:endParaRPr lang="en-US" sz="2400" dirty="0" smtClean="0"/>
          </a:p>
          <a:p>
            <a:pPr lvl="0" algn="ctr"/>
            <a:endParaRPr lang="en-US" sz="2400" dirty="0" smtClean="0"/>
          </a:p>
          <a:p>
            <a:pPr lvl="0" algn="ctr"/>
            <a:r>
              <a:rPr lang="en-US" sz="2400" dirty="0" smtClean="0"/>
              <a:t>T-statistic</a:t>
            </a:r>
            <a:r>
              <a:rPr lang="en-US" sz="2400" dirty="0" smtClean="0"/>
              <a:t>: -</a:t>
            </a:r>
            <a:r>
              <a:rPr lang="en-US" sz="2400" dirty="0" smtClean="0"/>
              <a:t>0.7967</a:t>
            </a:r>
          </a:p>
          <a:p>
            <a:pPr lvl="0" algn="ctr"/>
            <a:r>
              <a:rPr lang="en-US" sz="2400" dirty="0" smtClean="0"/>
              <a:t>P-value: </a:t>
            </a:r>
            <a:r>
              <a:rPr lang="en-US" sz="2400" dirty="0" smtClean="0"/>
              <a:t>0.7868</a:t>
            </a:r>
          </a:p>
          <a:p>
            <a:pPr lvl="0" algn="ctr"/>
            <a:r>
              <a:rPr lang="en-US" sz="2400" dirty="0" smtClean="0"/>
              <a:t>Interpretation</a:t>
            </a:r>
            <a:r>
              <a:rPr lang="en-US" sz="2400" dirty="0" smtClean="0"/>
              <a:t>: A high p-value indicates we fail to reject the null hypothesis</a:t>
            </a:r>
            <a:r>
              <a:rPr lang="en-US" sz="2400" dirty="0" smtClean="0"/>
              <a:t>.</a:t>
            </a:r>
          </a:p>
          <a:p>
            <a:pPr lvl="0" algn="ctr"/>
            <a:endParaRPr lang="en-US" sz="2400" dirty="0" smtClean="0"/>
          </a:p>
          <a:p>
            <a:pPr lvl="0" algn="ctr"/>
            <a:r>
              <a:rPr lang="en-US" sz="2400" dirty="0" smtClean="0"/>
              <a:t>Conclusion: There is no significant difference between average ratings for </a:t>
            </a:r>
            <a:r>
              <a:rPr lang="en-US" sz="2400" dirty="0" err="1" smtClean="0"/>
              <a:t>Instagram</a:t>
            </a:r>
            <a:r>
              <a:rPr lang="en-US" sz="2400" dirty="0" smtClean="0"/>
              <a:t> and </a:t>
            </a:r>
            <a:r>
              <a:rPr lang="en-US" sz="2400" dirty="0" err="1" smtClean="0"/>
              <a:t>WhatsApp</a:t>
            </a:r>
            <a:r>
              <a:rPr lang="en-US" sz="2400" dirty="0" smtClean="0"/>
              <a:t>, suggesting user perceptions are similar.</a:t>
            </a:r>
            <a:endParaRPr lang="en-US" sz="2400" dirty="0" smtClean="0"/>
          </a:p>
          <a:p>
            <a:pPr lvl="0" algn="ctr"/>
            <a:endParaRPr lang="en-US" sz="2400" dirty="0" smtClean="0"/>
          </a:p>
          <a:p>
            <a:pPr lvl="0" algn="ctr"/>
            <a:endParaRPr lang="en-US" sz="2400" dirty="0" smtClean="0">
              <a:latin typeface="Calibri"/>
              <a:ea typeface="Calibri"/>
              <a:cs typeface="Calibri"/>
              <a:sym typeface="Calibri"/>
            </a:endParaRPr>
          </a:p>
          <a:p>
            <a:pPr lvl="0" algn="ctr"/>
            <a:endParaRPr lang="en-US" sz="2400" dirty="0" smtClean="0">
              <a:latin typeface="Calibri"/>
              <a:ea typeface="Calibri"/>
              <a:cs typeface="Calibri"/>
              <a:sym typeface="Calibri"/>
            </a:endParaRPr>
          </a:p>
          <a:p>
            <a:pPr lvl="0" algn="ctr"/>
            <a:endParaRPr lang="en-US" sz="2400" dirty="0" smtClean="0">
              <a:latin typeface="Calibri"/>
              <a:ea typeface="Calibri"/>
              <a:cs typeface="Calibri"/>
              <a:sym typeface="Calibri"/>
            </a:endParaRPr>
          </a:p>
          <a:p>
            <a:pPr lvl="0" algn="ctr"/>
            <a:endParaRPr lang="en-US" sz="2400" dirty="0" smtClean="0">
              <a:latin typeface="Calibri"/>
              <a:ea typeface="Calibri"/>
              <a:cs typeface="Calibri"/>
              <a:sym typeface="Calibri"/>
            </a:endParaRPr>
          </a:p>
          <a:p>
            <a:pPr lvl="0" algn="ctr"/>
            <a:endParaRPr lang="en-US" sz="2400" dirty="0" smtClean="0">
              <a:latin typeface="Calibri"/>
              <a:ea typeface="Calibri"/>
              <a:cs typeface="Calibri"/>
              <a:sym typeface="Calibri"/>
            </a:endParaRPr>
          </a:p>
          <a:p>
            <a:pPr lvl="0" algn="ctr"/>
            <a:endParaRPr lang="en-US" sz="2400" dirty="0" smtClean="0">
              <a:latin typeface="Calibri"/>
              <a:ea typeface="Calibri"/>
              <a:cs typeface="Calibri"/>
              <a:sym typeface="Calibri"/>
            </a:endParaRPr>
          </a:p>
          <a:p>
            <a:pPr lvl="0" algn="ctr"/>
            <a:endParaRPr lang="en-US" sz="2400" dirty="0" smtClean="0">
              <a:latin typeface="Calibri"/>
              <a:ea typeface="Calibri"/>
              <a:cs typeface="Calibri"/>
              <a:sym typeface="Calibri"/>
            </a:endParaRPr>
          </a:p>
          <a:p>
            <a:pPr lvl="0" algn="ctr"/>
            <a:endParaRPr lang="en-US" sz="2400" dirty="0" smtClean="0">
              <a:latin typeface="Calibri"/>
              <a:ea typeface="Calibri"/>
              <a:cs typeface="Calibri"/>
              <a:sym typeface="Calibri"/>
            </a:endParaRPr>
          </a:p>
          <a:p>
            <a:pPr lvl="0" algn="ctr"/>
            <a:endParaRPr lang="en-US" sz="2400" dirty="0" smtClean="0">
              <a:latin typeface="Calibri"/>
              <a:ea typeface="Calibri"/>
              <a:cs typeface="Calibri"/>
              <a:sym typeface="Calibri"/>
            </a:endParaRPr>
          </a:p>
          <a:p>
            <a:pPr lvl="0" algn="ctr"/>
            <a:endParaRPr sz="2000">
              <a:latin typeface="Calibri"/>
              <a:ea typeface="Calibri"/>
              <a:cs typeface="Calibri"/>
              <a:sym typeface="Calibri"/>
            </a:endParaRPr>
          </a:p>
        </p:txBody>
      </p:sp>
      <p:pic>
        <p:nvPicPr>
          <p:cNvPr id="7" name="Picture 8" descr="Free Apple Logo Transparent Background, Download Free Apple Logo ..."/>
          <p:cNvPicPr>
            <a:picLocks noChangeAspect="1" noChangeArrowheads="1"/>
          </p:cNvPicPr>
          <p:nvPr/>
        </p:nvPicPr>
        <p:blipFill>
          <a:blip r:embed="rId3"/>
          <a:srcRect/>
          <a:stretch>
            <a:fillRect/>
          </a:stretch>
        </p:blipFill>
        <p:spPr bwMode="auto">
          <a:xfrm>
            <a:off x="0" y="0"/>
            <a:ext cx="1452529" cy="1452529"/>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6"/>
          <p:cNvSpPr/>
          <p:nvPr/>
        </p:nvSpPr>
        <p:spPr>
          <a:xfrm>
            <a:off x="1" y="0"/>
            <a:ext cx="973777" cy="1163782"/>
          </a:xfrm>
          <a:custGeom>
            <a:avLst/>
            <a:gdLst/>
            <a:ahLst/>
            <a:cxnLst/>
            <a:rect l="l" t="t" r="r" b="b"/>
            <a:pathLst>
              <a:path w="973777" h="1163782" extrusionOk="0">
                <a:moveTo>
                  <a:pt x="0" y="0"/>
                </a:moveTo>
                <a:lnTo>
                  <a:pt x="754972" y="0"/>
                </a:lnTo>
                <a:lnTo>
                  <a:pt x="777259" y="18388"/>
                </a:lnTo>
                <a:cubicBezTo>
                  <a:pt x="898678" y="139808"/>
                  <a:pt x="973777" y="307547"/>
                  <a:pt x="973777" y="492826"/>
                </a:cubicBezTo>
                <a:cubicBezTo>
                  <a:pt x="973777" y="863385"/>
                  <a:pt x="673380" y="1163782"/>
                  <a:pt x="302821" y="1163782"/>
                </a:cubicBezTo>
                <a:cubicBezTo>
                  <a:pt x="210181" y="1163782"/>
                  <a:pt x="121927" y="1145007"/>
                  <a:pt x="41655" y="1111055"/>
                </a:cubicBezTo>
                <a:lnTo>
                  <a:pt x="0" y="1088445"/>
                </a:lnTo>
                <a:lnTo>
                  <a:pt x="0"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1" name="Google Shape;131;p16"/>
          <p:cNvSpPr/>
          <p:nvPr/>
        </p:nvSpPr>
        <p:spPr>
          <a:xfrm rot="-5400000">
            <a:off x="11100412" y="5766412"/>
            <a:ext cx="1086593" cy="1096583"/>
          </a:xfrm>
          <a:custGeom>
            <a:avLst/>
            <a:gdLst/>
            <a:ahLst/>
            <a:cxnLst/>
            <a:rect l="l" t="t" r="r" b="b"/>
            <a:pathLst>
              <a:path w="1086593" h="1096583" extrusionOk="0">
                <a:moveTo>
                  <a:pt x="1086593" y="670956"/>
                </a:moveTo>
                <a:cubicBezTo>
                  <a:pt x="1086593" y="809916"/>
                  <a:pt x="1044350" y="939009"/>
                  <a:pt x="972004" y="1046094"/>
                </a:cubicBezTo>
                <a:lnTo>
                  <a:pt x="930348" y="1096583"/>
                </a:lnTo>
                <a:lnTo>
                  <a:pt x="0" y="1096583"/>
                </a:lnTo>
                <a:lnTo>
                  <a:pt x="0" y="148003"/>
                </a:lnTo>
                <a:lnTo>
                  <a:pt x="40499" y="114589"/>
                </a:lnTo>
                <a:cubicBezTo>
                  <a:pt x="147585" y="42243"/>
                  <a:pt x="276678" y="0"/>
                  <a:pt x="415637" y="0"/>
                </a:cubicBezTo>
                <a:cubicBezTo>
                  <a:pt x="786196" y="0"/>
                  <a:pt x="1086593" y="300397"/>
                  <a:pt x="1086593" y="670956"/>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3" name="Google Shape;133;p16"/>
          <p:cNvSpPr/>
          <p:nvPr/>
        </p:nvSpPr>
        <p:spPr>
          <a:xfrm>
            <a:off x="1881158" y="285728"/>
            <a:ext cx="8715436" cy="5929355"/>
          </a:xfrm>
          <a:prstGeom prst="roundRect">
            <a:avLst>
              <a:gd name="adj" fmla="val 16667"/>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lvl="0"/>
            <a:r>
              <a:rPr lang="en-US" sz="2000" b="1" dirty="0" smtClean="0"/>
              <a:t>Conclusion: Analysis of Apple Store </a:t>
            </a:r>
            <a:r>
              <a:rPr lang="en-US" sz="2000" b="1" dirty="0" smtClean="0"/>
              <a:t>Reviews:- </a:t>
            </a:r>
          </a:p>
          <a:p>
            <a:pPr lvl="0"/>
            <a:endParaRPr lang="en-US" sz="2000" b="1" dirty="0" smtClean="0">
              <a:solidFill>
                <a:schemeClr val="dk1"/>
              </a:solidFill>
            </a:endParaRPr>
          </a:p>
          <a:p>
            <a:pPr lvl="0"/>
            <a:r>
              <a:rPr lang="en-US" sz="2000" dirty="0" smtClean="0"/>
              <a:t>1. The </a:t>
            </a:r>
            <a:r>
              <a:rPr lang="en-US" sz="2000" dirty="0" smtClean="0"/>
              <a:t>median rating of 3 suggests mixed user satisfaction, with many low ratings (mode of 1). </a:t>
            </a:r>
            <a:endParaRPr lang="en-US" sz="2000" dirty="0" smtClean="0"/>
          </a:p>
          <a:p>
            <a:pPr lvl="0"/>
            <a:r>
              <a:rPr lang="en-US" sz="2000" dirty="0" smtClean="0"/>
              <a:t>2. The </a:t>
            </a:r>
            <a:r>
              <a:rPr lang="en-US" sz="2000" dirty="0" smtClean="0"/>
              <a:t>range and IQR of purchase amounts show moderate variability in spending </a:t>
            </a:r>
            <a:r>
              <a:rPr lang="en-US" sz="2000" dirty="0" smtClean="0"/>
              <a:t>behavior.</a:t>
            </a:r>
          </a:p>
          <a:p>
            <a:pPr lvl="0"/>
            <a:r>
              <a:rPr lang="en-US" sz="2000" dirty="0" smtClean="0">
                <a:solidFill>
                  <a:schemeClr val="dk1"/>
                </a:solidFill>
              </a:rPr>
              <a:t>3. </a:t>
            </a:r>
            <a:r>
              <a:rPr lang="en-US" sz="2000" dirty="0" smtClean="0"/>
              <a:t>Significant variance in likes highlights diverse user engagement with app reviews. </a:t>
            </a:r>
            <a:endParaRPr lang="en-US" sz="2000" dirty="0" smtClean="0"/>
          </a:p>
          <a:p>
            <a:pPr lvl="0"/>
            <a:r>
              <a:rPr lang="en-US" sz="2000" dirty="0" smtClean="0"/>
              <a:t>4. A </a:t>
            </a:r>
            <a:r>
              <a:rPr lang="en-US" sz="2000" dirty="0" smtClean="0"/>
              <a:t>strong positive correlation (0.8425) between likes and ratings suggests that higher-rated reviews attract more likes</a:t>
            </a:r>
            <a:r>
              <a:rPr lang="en-US" sz="2000" dirty="0" smtClean="0"/>
              <a:t>.</a:t>
            </a:r>
          </a:p>
          <a:p>
            <a:pPr lvl="0"/>
            <a:r>
              <a:rPr lang="en-US" sz="2000" dirty="0" smtClean="0">
                <a:solidFill>
                  <a:schemeClr val="dk1"/>
                </a:solidFill>
              </a:rPr>
              <a:t>5. </a:t>
            </a:r>
            <a:r>
              <a:rPr lang="en-US" sz="2000" dirty="0" smtClean="0"/>
              <a:t>Hypothesis testing found no significant </a:t>
            </a:r>
            <a:r>
              <a:rPr lang="en-US" sz="2000" dirty="0" smtClean="0"/>
              <a:t> difference </a:t>
            </a:r>
            <a:r>
              <a:rPr lang="en-US" sz="2000" dirty="0" smtClean="0"/>
              <a:t>between </a:t>
            </a:r>
            <a:r>
              <a:rPr lang="en-US" sz="2000" dirty="0" err="1" smtClean="0"/>
              <a:t>Instagram</a:t>
            </a:r>
            <a:r>
              <a:rPr lang="en-US" sz="2000" dirty="0" smtClean="0"/>
              <a:t> and </a:t>
            </a:r>
            <a:r>
              <a:rPr lang="en-US" sz="2000" dirty="0" smtClean="0"/>
              <a:t> </a:t>
            </a:r>
            <a:r>
              <a:rPr lang="en-US" sz="2000" dirty="0" err="1" smtClean="0"/>
              <a:t>WhatsApp</a:t>
            </a:r>
            <a:r>
              <a:rPr lang="en-US" sz="2000" dirty="0" smtClean="0"/>
              <a:t> </a:t>
            </a:r>
            <a:r>
              <a:rPr lang="en-US" sz="2000" dirty="0" smtClean="0"/>
              <a:t>ratings</a:t>
            </a:r>
            <a:r>
              <a:rPr lang="en-US" sz="2000" dirty="0" smtClean="0"/>
              <a:t>.</a:t>
            </a:r>
          </a:p>
          <a:p>
            <a:pPr lvl="0"/>
            <a:r>
              <a:rPr lang="en-US" sz="2000" dirty="0" smtClean="0">
                <a:solidFill>
                  <a:schemeClr val="dk1"/>
                </a:solidFill>
              </a:rPr>
              <a:t>6. </a:t>
            </a:r>
            <a:r>
              <a:rPr lang="en-US" sz="2000" dirty="0" smtClean="0"/>
              <a:t>The Central Limit Theorem supported reliable inferences, helping guide improvements in app features and user </a:t>
            </a:r>
            <a:r>
              <a:rPr lang="en-US" sz="2000" dirty="0" smtClean="0"/>
              <a:t>satisfaction.</a:t>
            </a:r>
            <a:endParaRPr lang="en-US" sz="2000" dirty="0" smtClean="0">
              <a:solidFill>
                <a:schemeClr val="dk1"/>
              </a:solidFill>
            </a:endParaRPr>
          </a:p>
          <a:p>
            <a:pPr lvl="0"/>
            <a:r>
              <a:rPr lang="en-US" sz="2000" b="1" dirty="0" smtClean="0"/>
              <a:t> </a:t>
            </a:r>
          </a:p>
          <a:p>
            <a:pPr lvl="0"/>
            <a:endParaRPr sz="2000" b="1">
              <a:solidFill>
                <a:schemeClr val="dk1"/>
              </a:solidFill>
            </a:endParaRPr>
          </a:p>
        </p:txBody>
      </p:sp>
      <p:pic>
        <p:nvPicPr>
          <p:cNvPr id="7" name="Picture 8" descr="Free Apple Logo Transparent Background, Download Free Apple Logo ..."/>
          <p:cNvPicPr>
            <a:picLocks noChangeAspect="1" noChangeArrowheads="1"/>
          </p:cNvPicPr>
          <p:nvPr/>
        </p:nvPicPr>
        <p:blipFill>
          <a:blip r:embed="rId3"/>
          <a:srcRect/>
          <a:stretch>
            <a:fillRect/>
          </a:stretch>
        </p:blipFill>
        <p:spPr bwMode="auto">
          <a:xfrm>
            <a:off x="0" y="0"/>
            <a:ext cx="1452529" cy="1452529"/>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31"/>
          <p:cNvSpPr/>
          <p:nvPr/>
        </p:nvSpPr>
        <p:spPr>
          <a:xfrm>
            <a:off x="1" y="0"/>
            <a:ext cx="973777" cy="1163782"/>
          </a:xfrm>
          <a:custGeom>
            <a:avLst/>
            <a:gdLst/>
            <a:ahLst/>
            <a:cxnLst/>
            <a:rect l="l" t="t" r="r" b="b"/>
            <a:pathLst>
              <a:path w="973777" h="1163782" extrusionOk="0">
                <a:moveTo>
                  <a:pt x="0" y="0"/>
                </a:moveTo>
                <a:lnTo>
                  <a:pt x="754972" y="0"/>
                </a:lnTo>
                <a:lnTo>
                  <a:pt x="777259" y="18388"/>
                </a:lnTo>
                <a:cubicBezTo>
                  <a:pt x="898678" y="139808"/>
                  <a:pt x="973777" y="307547"/>
                  <a:pt x="973777" y="492826"/>
                </a:cubicBezTo>
                <a:cubicBezTo>
                  <a:pt x="973777" y="863385"/>
                  <a:pt x="673380" y="1163782"/>
                  <a:pt x="302821" y="1163782"/>
                </a:cubicBezTo>
                <a:cubicBezTo>
                  <a:pt x="210181" y="1163782"/>
                  <a:pt x="121927" y="1145007"/>
                  <a:pt x="41655" y="1111055"/>
                </a:cubicBezTo>
                <a:lnTo>
                  <a:pt x="0" y="1088445"/>
                </a:lnTo>
                <a:lnTo>
                  <a:pt x="0"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7" name="Google Shape;337;p31"/>
          <p:cNvSpPr/>
          <p:nvPr/>
        </p:nvSpPr>
        <p:spPr>
          <a:xfrm rot="-5400000">
            <a:off x="11100412" y="5766412"/>
            <a:ext cx="1086593" cy="1096583"/>
          </a:xfrm>
          <a:custGeom>
            <a:avLst/>
            <a:gdLst/>
            <a:ahLst/>
            <a:cxnLst/>
            <a:rect l="l" t="t" r="r" b="b"/>
            <a:pathLst>
              <a:path w="1086593" h="1096583" extrusionOk="0">
                <a:moveTo>
                  <a:pt x="1086593" y="670956"/>
                </a:moveTo>
                <a:cubicBezTo>
                  <a:pt x="1086593" y="809916"/>
                  <a:pt x="1044350" y="939009"/>
                  <a:pt x="972004" y="1046094"/>
                </a:cubicBezTo>
                <a:lnTo>
                  <a:pt x="930348" y="1096583"/>
                </a:lnTo>
                <a:lnTo>
                  <a:pt x="0" y="1096583"/>
                </a:lnTo>
                <a:lnTo>
                  <a:pt x="0" y="148003"/>
                </a:lnTo>
                <a:lnTo>
                  <a:pt x="40499" y="114589"/>
                </a:lnTo>
                <a:cubicBezTo>
                  <a:pt x="147585" y="42243"/>
                  <a:pt x="276678" y="0"/>
                  <a:pt x="415637" y="0"/>
                </a:cubicBezTo>
                <a:cubicBezTo>
                  <a:pt x="786196" y="0"/>
                  <a:pt x="1086593" y="300397"/>
                  <a:pt x="1086593" y="670956"/>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8" name="Google Shape;338;p31"/>
          <p:cNvSpPr txBox="1"/>
          <p:nvPr/>
        </p:nvSpPr>
        <p:spPr>
          <a:xfrm>
            <a:off x="2595538" y="1571612"/>
            <a:ext cx="5431392" cy="92333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5400" b="1" dirty="0">
                <a:solidFill>
                  <a:schemeClr val="accent6"/>
                </a:solidFill>
                <a:latin typeface="Georgia"/>
                <a:ea typeface="Georgia"/>
                <a:cs typeface="Georgia"/>
                <a:sym typeface="Georgia"/>
              </a:rPr>
              <a:t>Thank You!</a:t>
            </a:r>
            <a:endParaRPr/>
          </a:p>
        </p:txBody>
      </p:sp>
      <p:sp>
        <p:nvSpPr>
          <p:cNvPr id="339" name="Google Shape;339;p31"/>
          <p:cNvSpPr txBox="1"/>
          <p:nvPr/>
        </p:nvSpPr>
        <p:spPr>
          <a:xfrm>
            <a:off x="6096000" y="3204921"/>
            <a:ext cx="2682990"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a:solidFill>
                  <a:schemeClr val="dk1"/>
                </a:solidFill>
                <a:latin typeface="Geo"/>
                <a:ea typeface="Geo"/>
                <a:cs typeface="Geo"/>
                <a:sym typeface="Geo"/>
              </a:rPr>
              <a:t> </a:t>
            </a:r>
            <a:endParaRPr/>
          </a:p>
        </p:txBody>
      </p:sp>
      <p:sp>
        <p:nvSpPr>
          <p:cNvPr id="340" name="Google Shape;340;p31"/>
          <p:cNvSpPr txBox="1"/>
          <p:nvPr/>
        </p:nvSpPr>
        <p:spPr>
          <a:xfrm>
            <a:off x="6096000" y="4747118"/>
            <a:ext cx="2682990"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100">
              <a:solidFill>
                <a:schemeClr val="dk1"/>
              </a:solidFill>
              <a:latin typeface="Geo"/>
              <a:ea typeface="Geo"/>
              <a:cs typeface="Geo"/>
              <a:sym typeface="Geo"/>
            </a:endParaRPr>
          </a:p>
        </p:txBody>
      </p:sp>
      <p:sp>
        <p:nvSpPr>
          <p:cNvPr id="341" name="Google Shape;341;p31"/>
          <p:cNvSpPr txBox="1"/>
          <p:nvPr/>
        </p:nvSpPr>
        <p:spPr>
          <a:xfrm>
            <a:off x="9313391" y="4747118"/>
            <a:ext cx="2682990"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a:solidFill>
                  <a:schemeClr val="dk1"/>
                </a:solidFill>
                <a:latin typeface="Geo"/>
                <a:ea typeface="Geo"/>
                <a:cs typeface="Geo"/>
                <a:sym typeface="Geo"/>
              </a:rPr>
              <a:t> </a:t>
            </a:r>
            <a:endParaRPr/>
          </a:p>
        </p:txBody>
      </p:sp>
      <p:sp>
        <p:nvSpPr>
          <p:cNvPr id="342" name="Google Shape;342;p31"/>
          <p:cNvSpPr txBox="1"/>
          <p:nvPr/>
        </p:nvSpPr>
        <p:spPr>
          <a:xfrm>
            <a:off x="2452662" y="2786058"/>
            <a:ext cx="5800800" cy="14772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dirty="0">
                <a:solidFill>
                  <a:srgbClr val="C00000"/>
                </a:solidFill>
                <a:latin typeface="Calibri" pitchFamily="34" charset="0"/>
                <a:ea typeface="Calibri" pitchFamily="34" charset="0"/>
                <a:cs typeface="Calibri" pitchFamily="34" charset="0"/>
                <a:sym typeface="Calibri"/>
              </a:rPr>
              <a:t>We Respect your valuable time with </a:t>
            </a:r>
            <a:r>
              <a:rPr lang="en-US" sz="2000" b="1" dirty="0" smtClean="0">
                <a:solidFill>
                  <a:srgbClr val="C00000"/>
                </a:solidFill>
                <a:latin typeface="Calibri" pitchFamily="34" charset="0"/>
                <a:ea typeface="Calibri" pitchFamily="34" charset="0"/>
                <a:cs typeface="Calibri" pitchFamily="34" charset="0"/>
                <a:sym typeface="Calibri"/>
              </a:rPr>
              <a:t>APPLE INC</a:t>
            </a:r>
            <a:r>
              <a:rPr lang="en-US" sz="2000" b="1" dirty="0" smtClean="0">
                <a:solidFill>
                  <a:srgbClr val="C00000"/>
                </a:solidFill>
                <a:latin typeface="Calibri" pitchFamily="34" charset="0"/>
                <a:ea typeface="Calibri" pitchFamily="34" charset="0"/>
                <a:cs typeface="Calibri" pitchFamily="34" charset="0"/>
                <a:sym typeface="Calibri"/>
              </a:rPr>
              <a:t> </a:t>
            </a:r>
            <a:r>
              <a:rPr lang="en-US" sz="2000" b="1" dirty="0">
                <a:solidFill>
                  <a:srgbClr val="C00000"/>
                </a:solidFill>
                <a:latin typeface="Calibri" pitchFamily="34" charset="0"/>
                <a:ea typeface="Calibri" pitchFamily="34" charset="0"/>
                <a:cs typeface="Calibri" pitchFamily="34" charset="0"/>
                <a:sym typeface="Calibri"/>
              </a:rPr>
              <a:t>.</a:t>
            </a:r>
            <a:endParaRPr sz="2000" b="1">
              <a:solidFill>
                <a:srgbClr val="C00000"/>
              </a:solidFill>
              <a:latin typeface="Calibri" pitchFamily="34" charset="0"/>
              <a:ea typeface="Calibri" pitchFamily="34" charset="0"/>
              <a:cs typeface="Calibri" pitchFamily="34" charset="0"/>
              <a:sym typeface="Calibri"/>
            </a:endParaRPr>
          </a:p>
          <a:p>
            <a:pPr marL="0" marR="0" lvl="0" indent="0" algn="l" rtl="0">
              <a:spcBef>
                <a:spcPts val="0"/>
              </a:spcBef>
              <a:spcAft>
                <a:spcPts val="0"/>
              </a:spcAft>
              <a:buNone/>
            </a:pPr>
            <a:r>
              <a:rPr lang="en-US" sz="2000" dirty="0">
                <a:solidFill>
                  <a:srgbClr val="C00000"/>
                </a:solidFill>
                <a:latin typeface="Calibri" pitchFamily="34" charset="0"/>
                <a:ea typeface="Calibri" pitchFamily="34" charset="0"/>
                <a:cs typeface="Calibri" pitchFamily="34" charset="0"/>
                <a:sym typeface="Georgia"/>
              </a:rPr>
              <a:t>If you have any questions, please reach us</a:t>
            </a:r>
            <a:endParaRPr sz="2000">
              <a:solidFill>
                <a:srgbClr val="C00000"/>
              </a:solidFill>
              <a:latin typeface="Calibri" pitchFamily="34" charset="0"/>
              <a:ea typeface="Calibri" pitchFamily="34" charset="0"/>
              <a:cs typeface="Calibri" pitchFamily="34" charset="0"/>
            </a:endParaRPr>
          </a:p>
          <a:p>
            <a:pPr marL="0" marR="0" lvl="0" indent="0" algn="l" rtl="0">
              <a:spcBef>
                <a:spcPts val="0"/>
              </a:spcBef>
              <a:spcAft>
                <a:spcPts val="0"/>
              </a:spcAft>
              <a:buNone/>
            </a:pPr>
            <a:endParaRPr sz="1600">
              <a:solidFill>
                <a:srgbClr val="262626"/>
              </a:solidFill>
              <a:latin typeface="Georgia"/>
              <a:ea typeface="Georgia"/>
              <a:cs typeface="Georgia"/>
              <a:sym typeface="Georgia"/>
            </a:endParaRPr>
          </a:p>
          <a:p>
            <a:pPr marL="0" marR="0" lvl="0" indent="0" algn="l" rtl="0">
              <a:spcBef>
                <a:spcPts val="0"/>
              </a:spcBef>
              <a:spcAft>
                <a:spcPts val="0"/>
              </a:spcAft>
              <a:buNone/>
            </a:pPr>
            <a:endParaRPr sz="1600">
              <a:solidFill>
                <a:srgbClr val="262626"/>
              </a:solidFill>
              <a:latin typeface="Georgia"/>
              <a:ea typeface="Georgia"/>
              <a:cs typeface="Georgia"/>
              <a:sym typeface="Georgia"/>
            </a:endParaRPr>
          </a:p>
          <a:p>
            <a:pPr marL="0" marR="0" lvl="0" indent="0" algn="l" rtl="0">
              <a:spcBef>
                <a:spcPts val="0"/>
              </a:spcBef>
              <a:spcAft>
                <a:spcPts val="0"/>
              </a:spcAft>
              <a:buNone/>
            </a:pPr>
            <a:endParaRPr sz="1600">
              <a:solidFill>
                <a:schemeClr val="dk1"/>
              </a:solidFill>
              <a:latin typeface="Calibri"/>
              <a:ea typeface="Calibri"/>
              <a:cs typeface="Calibri"/>
              <a:sym typeface="Calibri"/>
            </a:endParaRPr>
          </a:p>
        </p:txBody>
      </p:sp>
      <p:pic>
        <p:nvPicPr>
          <p:cNvPr id="343" name="Google Shape;343;p31" descr="A black cat in a circle&#10;&#10;AI-generated content may be incorrect.">
            <a:hlinkClick r:id="rId3"/>
          </p:cNvPr>
          <p:cNvPicPr preferRelativeResize="0"/>
          <p:nvPr/>
        </p:nvPicPr>
        <p:blipFill rotWithShape="1">
          <a:blip r:embed="rId4">
            <a:alphaModFix/>
          </a:blip>
          <a:srcRect/>
          <a:stretch/>
        </p:blipFill>
        <p:spPr>
          <a:xfrm>
            <a:off x="5024430" y="3714752"/>
            <a:ext cx="530339" cy="453666"/>
          </a:xfrm>
          <a:prstGeom prst="rect">
            <a:avLst/>
          </a:prstGeom>
          <a:noFill/>
          <a:ln>
            <a:noFill/>
          </a:ln>
        </p:spPr>
      </p:pic>
      <p:sp>
        <p:nvSpPr>
          <p:cNvPr id="344" name="Google Shape;344;p31">
            <a:hlinkClick r:id="rId5"/>
          </p:cNvPr>
          <p:cNvSpPr/>
          <p:nvPr/>
        </p:nvSpPr>
        <p:spPr>
          <a:xfrm>
            <a:off x="4310050" y="3714752"/>
            <a:ext cx="381000" cy="418346"/>
          </a:xfrm>
          <a:custGeom>
            <a:avLst/>
            <a:gdLst/>
            <a:ahLst/>
            <a:cxnLst/>
            <a:rect l="l" t="t" r="r" b="b"/>
            <a:pathLst>
              <a:path w="3888432" h="3960440" extrusionOk="0">
                <a:moveTo>
                  <a:pt x="554477" y="1512168"/>
                </a:moveTo>
                <a:lnTo>
                  <a:pt x="554477" y="3312368"/>
                </a:lnTo>
                <a:lnTo>
                  <a:pt x="1201638" y="3312368"/>
                </a:lnTo>
                <a:lnTo>
                  <a:pt x="1201638" y="1512168"/>
                </a:lnTo>
                <a:lnTo>
                  <a:pt x="554477" y="1512168"/>
                </a:lnTo>
                <a:close/>
                <a:moveTo>
                  <a:pt x="2840340" y="1479943"/>
                </a:moveTo>
                <a:cubicBezTo>
                  <a:pt x="2293254" y="1484797"/>
                  <a:pt x="2254084" y="1780470"/>
                  <a:pt x="2136833" y="1785510"/>
                </a:cubicBezTo>
                <a:lnTo>
                  <a:pt x="2136833" y="1510185"/>
                </a:lnTo>
                <a:lnTo>
                  <a:pt x="1489672" y="1510185"/>
                </a:lnTo>
                <a:lnTo>
                  <a:pt x="1489672" y="3310385"/>
                </a:lnTo>
                <a:lnTo>
                  <a:pt x="2136833" y="3310385"/>
                </a:lnTo>
                <a:cubicBezTo>
                  <a:pt x="2140283" y="2925445"/>
                  <a:pt x="2133383" y="2560917"/>
                  <a:pt x="2147184" y="2155564"/>
                </a:cubicBezTo>
                <a:cubicBezTo>
                  <a:pt x="2187272" y="1842063"/>
                  <a:pt x="2668986" y="1938990"/>
                  <a:pt x="2673919" y="2138897"/>
                </a:cubicBezTo>
                <a:lnTo>
                  <a:pt x="2679688" y="3312366"/>
                </a:lnTo>
                <a:lnTo>
                  <a:pt x="3326849" y="3312366"/>
                </a:lnTo>
                <a:cubicBezTo>
                  <a:pt x="3329155" y="2917782"/>
                  <a:pt x="3331462" y="2523197"/>
                  <a:pt x="3333768" y="2128613"/>
                </a:cubicBezTo>
                <a:cubicBezTo>
                  <a:pt x="3339026" y="1942962"/>
                  <a:pt x="3184753" y="1475890"/>
                  <a:pt x="2840340" y="1479943"/>
                </a:cubicBezTo>
                <a:close/>
                <a:moveTo>
                  <a:pt x="878058" y="648072"/>
                </a:moveTo>
                <a:cubicBezTo>
                  <a:pt x="699349" y="648072"/>
                  <a:pt x="554477" y="792944"/>
                  <a:pt x="554477" y="971653"/>
                </a:cubicBezTo>
                <a:cubicBezTo>
                  <a:pt x="554477" y="1150362"/>
                  <a:pt x="699349" y="1295234"/>
                  <a:pt x="878058" y="1295234"/>
                </a:cubicBezTo>
                <a:cubicBezTo>
                  <a:pt x="1056767" y="1295234"/>
                  <a:pt x="1201639" y="1150362"/>
                  <a:pt x="1201639" y="971653"/>
                </a:cubicBezTo>
                <a:cubicBezTo>
                  <a:pt x="1201639" y="792944"/>
                  <a:pt x="1056767" y="648072"/>
                  <a:pt x="878058" y="648072"/>
                </a:cubicBezTo>
                <a:close/>
                <a:moveTo>
                  <a:pt x="333511" y="0"/>
                </a:moveTo>
                <a:lnTo>
                  <a:pt x="3554921" y="0"/>
                </a:lnTo>
                <a:cubicBezTo>
                  <a:pt x="3739114" y="0"/>
                  <a:pt x="3888432" y="149318"/>
                  <a:pt x="3888432" y="333511"/>
                </a:cubicBezTo>
                <a:lnTo>
                  <a:pt x="3888432" y="3626929"/>
                </a:lnTo>
                <a:cubicBezTo>
                  <a:pt x="3888432" y="3811122"/>
                  <a:pt x="3739114" y="3960440"/>
                  <a:pt x="3554921" y="3960440"/>
                </a:cubicBezTo>
                <a:lnTo>
                  <a:pt x="333511" y="3960440"/>
                </a:lnTo>
                <a:cubicBezTo>
                  <a:pt x="149318" y="3960440"/>
                  <a:pt x="0" y="3811122"/>
                  <a:pt x="0" y="3626929"/>
                </a:cubicBezTo>
                <a:lnTo>
                  <a:pt x="0" y="333511"/>
                </a:lnTo>
                <a:cubicBezTo>
                  <a:pt x="0" y="149318"/>
                  <a:pt x="149318" y="0"/>
                  <a:pt x="333511" y="0"/>
                </a:cubicBezTo>
                <a:close/>
              </a:path>
            </a:pathLst>
          </a:custGeom>
          <a:solidFill>
            <a:srgbClr val="1A2D3B"/>
          </a:solidFill>
          <a:ln>
            <a:noFill/>
          </a:ln>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D37424"/>
              </a:solidFill>
              <a:latin typeface="Calibri"/>
              <a:ea typeface="Calibri"/>
              <a:cs typeface="Calibri"/>
              <a:sym typeface="Calibri"/>
            </a:endParaRPr>
          </a:p>
        </p:txBody>
      </p:sp>
      <p:pic>
        <p:nvPicPr>
          <p:cNvPr id="15" name="Picture 8" descr="Free Apple Logo Transparent Background, Download Free Apple Logo ..."/>
          <p:cNvPicPr>
            <a:picLocks noChangeAspect="1" noChangeArrowheads="1"/>
          </p:cNvPicPr>
          <p:nvPr/>
        </p:nvPicPr>
        <p:blipFill>
          <a:blip r:embed="rId6"/>
          <a:srcRect/>
          <a:stretch>
            <a:fillRect/>
          </a:stretch>
        </p:blipFill>
        <p:spPr bwMode="auto">
          <a:xfrm>
            <a:off x="0" y="0"/>
            <a:ext cx="1452529" cy="1452529"/>
          </a:xfrm>
          <a:prstGeom prst="rect">
            <a:avLst/>
          </a:prstGeom>
          <a:noFill/>
        </p:spPr>
      </p:pic>
      <p:sp>
        <p:nvSpPr>
          <p:cNvPr id="2052" name="AutoShape 4" descr="Image result for apple store image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4" name="AutoShape 6" descr="Image result for apple store image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6" name="AutoShape 8" descr="Image result for apple store image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Custom 42">
      <a:dk1>
        <a:srgbClr val="000000"/>
      </a:dk1>
      <a:lt1>
        <a:srgbClr val="FFFFFF"/>
      </a:lt1>
      <a:dk2>
        <a:srgbClr val="44546A"/>
      </a:dk2>
      <a:lt2>
        <a:srgbClr val="00B050"/>
      </a:lt2>
      <a:accent1>
        <a:srgbClr val="FE5BA4"/>
      </a:accent1>
      <a:accent2>
        <a:srgbClr val="383688"/>
      </a:accent2>
      <a:accent3>
        <a:srgbClr val="F57901"/>
      </a:accent3>
      <a:accent4>
        <a:srgbClr val="FFC000"/>
      </a:accent4>
      <a:accent5>
        <a:srgbClr val="17CDF4"/>
      </a:accent5>
      <a:accent6>
        <a:srgbClr val="D90312"/>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167</TotalTime>
  <Words>866</Words>
  <PresentationFormat>Custom</PresentationFormat>
  <Paragraphs>124</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Georgia</vt:lpstr>
      <vt:lpstr>Geo</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Sharad</dc:creator>
  <cp:lastModifiedBy>lenovo</cp:lastModifiedBy>
  <cp:revision>16</cp:revision>
  <dcterms:modified xsi:type="dcterms:W3CDTF">2025-11-20T14:53:22Z</dcterms:modified>
</cp:coreProperties>
</file>